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66" r:id="rId2"/>
    <p:sldId id="256" r:id="rId3"/>
    <p:sldId id="257"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 id="279" r:id="rId2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D266F2-FF40-41A0-AB7D-C567CE054A48}">
          <p14:sldIdLst>
            <p14:sldId id="266"/>
            <p14:sldId id="256"/>
          </p14:sldIdLst>
        </p14:section>
        <p14:section name="Untitled Section" id="{DADF0455-3411-4723-9F0D-B5BCA6BD6A13}">
          <p14:sldIdLst>
            <p14:sldId id="257"/>
            <p14:sldId id="258"/>
            <p14:sldId id="259"/>
            <p14:sldId id="260"/>
            <p14:sldId id="261"/>
            <p14:sldId id="262"/>
            <p14:sldId id="263"/>
            <p14:sldId id="264"/>
            <p14:sldId id="265"/>
            <p14:sldId id="267"/>
            <p14:sldId id="268"/>
            <p14:sldId id="269"/>
            <p14:sldId id="270"/>
            <p14:sldId id="271"/>
            <p14:sldId id="272"/>
            <p14:sldId id="273"/>
            <p14:sldId id="275"/>
            <p14:sldId id="274"/>
            <p14:sldId id="276"/>
            <p14:sldId id="277"/>
            <p14:sldId id="278"/>
            <p14:sldId id="27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hana Ameer" initials="RA" lastIdx="0" clrIdx="0">
    <p:extLst>
      <p:ext uri="{19B8F6BF-5375-455C-9EA6-DF929625EA0E}">
        <p15:presenceInfo xmlns:p15="http://schemas.microsoft.com/office/powerpoint/2012/main" userId="Rihana Ame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55D"/>
    <a:srgbClr val="86D0B3"/>
    <a:srgbClr val="112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94" autoAdjust="0"/>
    <p:restoredTop sz="94660"/>
  </p:normalViewPr>
  <p:slideViewPr>
    <p:cSldViewPr snapToGrid="0">
      <p:cViewPr>
        <p:scale>
          <a:sx n="66" d="100"/>
          <a:sy n="66" d="100"/>
        </p:scale>
        <p:origin x="557"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5E9CC1-C706-0F49-92D6-E571CC5EEA8F}" type="slidenum">
              <a:rPr lang="en-US" smtClean="0"/>
              <a:t>12</a:t>
            </a:fld>
            <a:endParaRPr lang="en-US"/>
          </a:p>
        </p:txBody>
      </p:sp>
    </p:spTree>
    <p:extLst>
      <p:ext uri="{BB962C8B-B14F-4D97-AF65-F5344CB8AC3E}">
        <p14:creationId xmlns:p14="http://schemas.microsoft.com/office/powerpoint/2010/main" val="465361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39402" y="1997955"/>
            <a:ext cx="7088607" cy="1569660"/>
          </a:xfrm>
          <a:prstGeom prst="rect">
            <a:avLst/>
          </a:prstGeom>
          <a:noFill/>
        </p:spPr>
        <p:txBody>
          <a:bodyPr wrap="none" lIns="91440" tIns="45720" rIns="91440" bIns="45720">
            <a:spAutoFit/>
          </a:bodyPr>
          <a:lstStyle/>
          <a:p>
            <a:pPr algn="ctr"/>
            <a:r>
              <a:rPr lang="en-US" sz="9600" b="1" dirty="0" smtClean="0">
                <a:ln w="0"/>
                <a:solidFill>
                  <a:schemeClr val="tx2">
                    <a:lumMod val="40000"/>
                    <a:lumOff val="60000"/>
                  </a:schemeClr>
                </a:solidFill>
                <a:effectLst>
                  <a:reflection blurRad="6350" stA="53000" endA="300" endPos="35500" dir="5400000" sy="-90000" algn="bl" rotWithShape="0"/>
                </a:effectLst>
              </a:rPr>
              <a:t>CONNECT ME</a:t>
            </a:r>
            <a:endParaRPr lang="en-US" sz="9600" b="1" cap="none" spc="0" dirty="0">
              <a:ln w="0"/>
              <a:solidFill>
                <a:schemeClr val="tx2">
                  <a:lumMod val="40000"/>
                  <a:lumOff val="60000"/>
                </a:schemeClr>
              </a:solidFill>
              <a:effectLst>
                <a:reflection blurRad="6350" stA="53000" endA="300" endPos="35500" dir="5400000" sy="-90000" algn="bl" rotWithShape="0"/>
              </a:effectLst>
            </a:endParaRPr>
          </a:p>
        </p:txBody>
      </p:sp>
      <p:sp>
        <p:nvSpPr>
          <p:cNvPr id="5" name="TextBox 4"/>
          <p:cNvSpPr txBox="1"/>
          <p:nvPr/>
        </p:nvSpPr>
        <p:spPr>
          <a:xfrm>
            <a:off x="11626138" y="5810743"/>
            <a:ext cx="2592728" cy="1938992"/>
          </a:xfrm>
          <a:prstGeom prst="rect">
            <a:avLst/>
          </a:prstGeom>
          <a:noFill/>
        </p:spPr>
        <p:txBody>
          <a:bodyPr wrap="square" rtlCol="0">
            <a:spAutoFit/>
          </a:bodyPr>
          <a:lstStyle/>
          <a:p>
            <a:r>
              <a:rPr lang="en-US" sz="2400" dirty="0" smtClean="0">
                <a:solidFill>
                  <a:schemeClr val="tx2">
                    <a:lumMod val="20000"/>
                    <a:lumOff val="80000"/>
                  </a:schemeClr>
                </a:solidFill>
              </a:rPr>
              <a:t>Najma </a:t>
            </a:r>
            <a:r>
              <a:rPr lang="en-US" sz="2400" dirty="0" err="1" smtClean="0">
                <a:solidFill>
                  <a:schemeClr val="tx2">
                    <a:lumMod val="20000"/>
                    <a:lumOff val="80000"/>
                  </a:schemeClr>
                </a:solidFill>
              </a:rPr>
              <a:t>manaf</a:t>
            </a:r>
            <a:endParaRPr lang="en-US" sz="2400" dirty="0" smtClean="0">
              <a:solidFill>
                <a:schemeClr val="tx2">
                  <a:lumMod val="20000"/>
                  <a:lumOff val="80000"/>
                </a:schemeClr>
              </a:solidFill>
            </a:endParaRPr>
          </a:p>
          <a:p>
            <a:r>
              <a:rPr lang="en-US" sz="2400" dirty="0" err="1" smtClean="0">
                <a:solidFill>
                  <a:schemeClr val="tx2">
                    <a:lumMod val="20000"/>
                    <a:lumOff val="80000"/>
                  </a:schemeClr>
                </a:solidFill>
              </a:rPr>
              <a:t>Jesna</a:t>
            </a:r>
            <a:endParaRPr lang="en-US" sz="2400" b="1" dirty="0" smtClean="0">
              <a:solidFill>
                <a:schemeClr val="tx2">
                  <a:lumMod val="20000"/>
                  <a:lumOff val="80000"/>
                </a:schemeClr>
              </a:solidFill>
              <a:latin typeface="+mj-lt"/>
            </a:endParaRPr>
          </a:p>
          <a:p>
            <a:r>
              <a:rPr lang="en-US" sz="2400" b="1" dirty="0" smtClean="0">
                <a:solidFill>
                  <a:schemeClr val="tx2">
                    <a:lumMod val="20000"/>
                    <a:lumOff val="80000"/>
                  </a:schemeClr>
                </a:solidFill>
                <a:latin typeface="+mj-lt"/>
              </a:rPr>
              <a:t>Rihana</a:t>
            </a:r>
          </a:p>
          <a:p>
            <a:r>
              <a:rPr lang="en-US" sz="2400" b="1" dirty="0" err="1" smtClean="0">
                <a:solidFill>
                  <a:schemeClr val="tx2">
                    <a:lumMod val="20000"/>
                    <a:lumOff val="80000"/>
                  </a:schemeClr>
                </a:solidFill>
                <a:latin typeface="+mj-lt"/>
              </a:rPr>
              <a:t>Liyana</a:t>
            </a:r>
            <a:endParaRPr lang="en-US" sz="2400" b="1" dirty="0" smtClean="0">
              <a:solidFill>
                <a:schemeClr val="tx2">
                  <a:lumMod val="20000"/>
                  <a:lumOff val="80000"/>
                </a:schemeClr>
              </a:solidFill>
              <a:latin typeface="+mj-lt"/>
            </a:endParaRPr>
          </a:p>
          <a:p>
            <a:endParaRPr lang="en-US" sz="2400" b="1" dirty="0">
              <a:solidFill>
                <a:schemeClr val="tx2">
                  <a:lumMod val="20000"/>
                  <a:lumOff val="80000"/>
                </a:schemeClr>
              </a:solidFill>
            </a:endParaRPr>
          </a:p>
        </p:txBody>
      </p:sp>
      <p:sp>
        <p:nvSpPr>
          <p:cNvPr id="7" name="Rectangle 6"/>
          <p:cNvSpPr/>
          <p:nvPr/>
        </p:nvSpPr>
        <p:spPr>
          <a:xfrm>
            <a:off x="10930633" y="4837902"/>
            <a:ext cx="3392404" cy="707886"/>
          </a:xfrm>
          <a:prstGeom prst="rect">
            <a:avLst/>
          </a:prstGeom>
        </p:spPr>
        <p:txBody>
          <a:bodyPr wrap="none">
            <a:spAutoFit/>
          </a:bodyPr>
          <a:lstStyle/>
          <a:p>
            <a:pPr algn="ctr"/>
            <a:r>
              <a:rPr lang="en-US" sz="4000" b="1" dirty="0" smtClean="0">
                <a:ln w="0"/>
                <a:solidFill>
                  <a:schemeClr val="accent1">
                    <a:lumMod val="40000"/>
                    <a:lumOff val="60000"/>
                  </a:schemeClr>
                </a:solidFill>
                <a:effectLst>
                  <a:reflection blurRad="6350" stA="53000" endA="300" endPos="35500" dir="5400000" sy="-90000" algn="bl" rotWithShape="0"/>
                </a:effectLst>
                <a:latin typeface="+mj-lt"/>
              </a:rPr>
              <a:t>PRESENTED BY </a:t>
            </a:r>
            <a:r>
              <a:rPr lang="en-US" sz="4000" dirty="0" smtClean="0">
                <a:ln w="0"/>
                <a:solidFill>
                  <a:schemeClr val="accent1">
                    <a:lumMod val="40000"/>
                    <a:lumOff val="60000"/>
                  </a:schemeClr>
                </a:solidFill>
                <a:effectLst>
                  <a:reflection blurRad="6350" stA="53000" endA="300" endPos="35500" dir="5400000" sy="-90000" algn="bl" rotWithShape="0"/>
                </a:effectLst>
                <a:latin typeface="+mj-lt"/>
              </a:rPr>
              <a:t>:</a:t>
            </a:r>
            <a:endParaRPr lang="en-US" sz="4000" dirty="0">
              <a:ln w="0"/>
              <a:solidFill>
                <a:schemeClr val="accent1">
                  <a:lumMod val="40000"/>
                  <a:lumOff val="60000"/>
                </a:schemeClr>
              </a:solidFill>
              <a:effectLst>
                <a:reflection blurRad="6350" stA="53000" endA="300" endPos="35500" dir="5400000" sy="-90000" algn="bl" rotWithShape="0"/>
              </a:effectLst>
              <a:latin typeface="+mj-lt"/>
            </a:endParaRPr>
          </a:p>
        </p:txBody>
      </p:sp>
      <p:sp>
        <p:nvSpPr>
          <p:cNvPr id="9" name="TextBox 8"/>
          <p:cNvSpPr txBox="1"/>
          <p:nvPr/>
        </p:nvSpPr>
        <p:spPr>
          <a:xfrm>
            <a:off x="4392591" y="3451868"/>
            <a:ext cx="5382228" cy="461665"/>
          </a:xfrm>
          <a:prstGeom prst="rect">
            <a:avLst/>
          </a:prstGeom>
          <a:noFill/>
        </p:spPr>
        <p:txBody>
          <a:bodyPr wrap="square" rtlCol="0">
            <a:spAutoFit/>
          </a:bodyPr>
          <a:lstStyle/>
          <a:p>
            <a:pPr algn="ctr"/>
            <a:r>
              <a:rPr lang="en-US" sz="2400" b="1" dirty="0" smtClean="0">
                <a:solidFill>
                  <a:schemeClr val="tx2">
                    <a:lumMod val="40000"/>
                    <a:lumOff val="60000"/>
                  </a:schemeClr>
                </a:solidFill>
                <a:latin typeface="+mj-lt"/>
              </a:rPr>
              <a:t>Your neighborhood app</a:t>
            </a:r>
            <a:endParaRPr lang="en-US" sz="2400" b="1" dirty="0">
              <a:solidFill>
                <a:schemeClr val="tx2">
                  <a:lumMod val="40000"/>
                  <a:lumOff val="60000"/>
                </a:schemeClr>
              </a:solidFill>
              <a:latin typeface="+mj-lt"/>
            </a:endParaRPr>
          </a:p>
        </p:txBody>
      </p:sp>
    </p:spTree>
    <p:extLst>
      <p:ext uri="{BB962C8B-B14F-4D97-AF65-F5344CB8AC3E}">
        <p14:creationId xmlns:p14="http://schemas.microsoft.com/office/powerpoint/2010/main" val="3768659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975717" y="1669613"/>
            <a:ext cx="7555468" cy="2763203"/>
          </a:xfrm>
          <a:prstGeom prst="rect">
            <a:avLst/>
          </a:prstGeom>
          <a:noFill/>
          <a:ln/>
        </p:spPr>
        <p:txBody>
          <a:bodyPr wrap="square" lIns="0" tIns="0" rIns="0" bIns="0" rtlCol="0" anchor="t"/>
          <a:lstStyle/>
          <a:p>
            <a:pPr marL="0" indent="0">
              <a:lnSpc>
                <a:spcPts val="7250"/>
              </a:lnSpc>
              <a:buNone/>
            </a:pPr>
            <a:r>
              <a:rPr lang="en-US" sz="5800" dirty="0">
                <a:solidFill>
                  <a:srgbClr val="FFFFFF"/>
                </a:solidFill>
                <a:latin typeface="Unbounded" pitchFamily="34" charset="0"/>
                <a:ea typeface="Unbounded" pitchFamily="34" charset="-122"/>
                <a:cs typeface="Unbounded" pitchFamily="34" charset="-120"/>
              </a:rPr>
              <a:t>Connect </a:t>
            </a:r>
            <a:r>
              <a:rPr lang="en-US" sz="5800" dirty="0" smtClean="0">
                <a:solidFill>
                  <a:srgbClr val="FFFFFF"/>
                </a:solidFill>
                <a:latin typeface="Unbounded" pitchFamily="34" charset="0"/>
                <a:ea typeface="Unbounded" pitchFamily="34" charset="-122"/>
                <a:cs typeface="Unbounded" pitchFamily="34" charset="-120"/>
              </a:rPr>
              <a:t>Me</a:t>
            </a:r>
            <a:endParaRPr lang="en-US" sz="5800" dirty="0"/>
          </a:p>
        </p:txBody>
      </p:sp>
      <p:sp>
        <p:nvSpPr>
          <p:cNvPr id="4" name="Text 1"/>
          <p:cNvSpPr/>
          <p:nvPr/>
        </p:nvSpPr>
        <p:spPr>
          <a:xfrm>
            <a:off x="794266" y="4432816"/>
            <a:ext cx="7555468" cy="1815108"/>
          </a:xfrm>
          <a:prstGeom prst="rect">
            <a:avLst/>
          </a:prstGeom>
          <a:noFill/>
          <a:ln/>
        </p:spPr>
        <p:txBody>
          <a:bodyPr wrap="square" lIns="0" tIns="0" rIns="0" bIns="0" rtlCol="0" anchor="t"/>
          <a:lstStyle/>
          <a:p>
            <a:pPr marL="0" indent="0">
              <a:lnSpc>
                <a:spcPts val="2850"/>
              </a:lnSpc>
              <a:buNone/>
            </a:pPr>
            <a:r>
              <a:rPr lang="en-US" sz="1750" dirty="0">
                <a:solidFill>
                  <a:srgbClr val="CAD6DE"/>
                </a:solidFill>
                <a:latin typeface="Cabin" pitchFamily="34" charset="0"/>
                <a:ea typeface="Cabin" pitchFamily="34" charset="-122"/>
                <a:cs typeface="Cabin" pitchFamily="34" charset="-120"/>
              </a:rPr>
              <a:t>Connect Me is an innovative Android application designed to simplify the process of accessing essential services and products in your area. This user-centric platform brings together a multitude of functionalities, enabling users to effortlessly discover nearby workers, book services, order from local shops, avail pharmacy services, and even request emergency assistance.</a:t>
            </a:r>
            <a:endParaRPr lang="en-US" sz="1750" dirty="0"/>
          </a:p>
        </p:txBody>
      </p:sp>
      <p:sp>
        <p:nvSpPr>
          <p:cNvPr id="6" name="Text 3"/>
          <p:cNvSpPr/>
          <p:nvPr/>
        </p:nvSpPr>
        <p:spPr>
          <a:xfrm>
            <a:off x="926902" y="6652974"/>
            <a:ext cx="97631" cy="97512"/>
          </a:xfrm>
          <a:prstGeom prst="rect">
            <a:avLst/>
          </a:prstGeom>
          <a:noFill/>
          <a:ln/>
        </p:spPr>
        <p:txBody>
          <a:bodyPr wrap="none" lIns="0" tIns="0" rIns="0" bIns="0" rtlCol="0" anchor="t"/>
          <a:lstStyle/>
          <a:p>
            <a:pPr marL="0" indent="0" algn="ctr">
              <a:lnSpc>
                <a:spcPts val="750"/>
              </a:lnSpc>
              <a:buNone/>
            </a:pPr>
            <a:r>
              <a:rPr lang="en-US" sz="750" dirty="0">
                <a:solidFill>
                  <a:srgbClr val="3C3838"/>
                </a:solidFill>
                <a:latin typeface="Cabin Medium" pitchFamily="34" charset="0"/>
                <a:ea typeface="Cabin Medium" pitchFamily="34" charset="-122"/>
                <a:cs typeface="Cabin Medium" pitchFamily="34" charset="-120"/>
              </a:rPr>
              <a:t>LL</a:t>
            </a:r>
            <a:endParaRPr lang="en-US" sz="750" dirty="0"/>
          </a:p>
        </p:txBody>
      </p:sp>
      <p:sp>
        <p:nvSpPr>
          <p:cNvPr id="7" name="Text 4"/>
          <p:cNvSpPr/>
          <p:nvPr/>
        </p:nvSpPr>
        <p:spPr>
          <a:xfrm>
            <a:off x="1270754" y="6503194"/>
            <a:ext cx="1739979" cy="397193"/>
          </a:xfrm>
          <a:prstGeom prst="rect">
            <a:avLst/>
          </a:prstGeom>
          <a:noFill/>
          <a:ln/>
        </p:spPr>
        <p:txBody>
          <a:bodyPr wrap="none" lIns="0" tIns="0" rIns="0" bIns="0" rtlCol="0" anchor="t"/>
          <a:lstStyle/>
          <a:p>
            <a:pPr marL="0" indent="0" algn="l">
              <a:lnSpc>
                <a:spcPts val="3100"/>
              </a:lnSpc>
              <a:buNone/>
            </a:pPr>
            <a:endParaRPr lang="en-US" sz="2200" dirty="0"/>
          </a:p>
        </p:txBody>
      </p:sp>
      <p:sp>
        <p:nvSpPr>
          <p:cNvPr id="5" name="TextBox 4"/>
          <p:cNvSpPr txBox="1"/>
          <p:nvPr/>
        </p:nvSpPr>
        <p:spPr>
          <a:xfrm>
            <a:off x="719084" y="3466243"/>
            <a:ext cx="2668353" cy="523220"/>
          </a:xfrm>
          <a:prstGeom prst="rect">
            <a:avLst/>
          </a:prstGeom>
          <a:noFill/>
        </p:spPr>
        <p:txBody>
          <a:bodyPr wrap="square" rtlCol="0">
            <a:spAutoFit/>
          </a:bodyPr>
          <a:lstStyle/>
          <a:p>
            <a:r>
              <a:rPr lang="en-US" sz="2800" dirty="0" smtClean="0">
                <a:solidFill>
                  <a:schemeClr val="bg1"/>
                </a:solidFill>
                <a:latin typeface="+mj-lt"/>
              </a:rPr>
              <a:t>introduction</a:t>
            </a:r>
            <a:endParaRPr lang="en-US" sz="2800" dirty="0">
              <a:solidFill>
                <a:schemeClr val="bg1"/>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0202" y="847249"/>
            <a:ext cx="6935867" cy="554831"/>
          </a:xfrm>
          <a:prstGeom prst="rect">
            <a:avLst/>
          </a:prstGeom>
          <a:noFill/>
          <a:ln/>
        </p:spPr>
        <p:txBody>
          <a:bodyPr wrap="none" lIns="0" tIns="0" rIns="0" bIns="0" rtlCol="0" anchor="t"/>
          <a:lstStyle/>
          <a:p>
            <a:pPr marL="0" indent="0">
              <a:lnSpc>
                <a:spcPts val="4350"/>
              </a:lnSpc>
              <a:buNone/>
            </a:pPr>
            <a:r>
              <a:rPr lang="en-US" sz="3450" dirty="0">
                <a:solidFill>
                  <a:srgbClr val="FFFFFF"/>
                </a:solidFill>
                <a:latin typeface="Unbounded" pitchFamily="34" charset="0"/>
                <a:ea typeface="Unbounded" pitchFamily="34" charset="-122"/>
                <a:cs typeface="Unbounded" pitchFamily="34" charset="-120"/>
              </a:rPr>
              <a:t>Seamless Service Booking</a:t>
            </a:r>
            <a:endParaRPr lang="en-US" sz="3450" dirty="0"/>
          </a:p>
        </p:txBody>
      </p:sp>
      <p:sp>
        <p:nvSpPr>
          <p:cNvPr id="4" name="Shape 1"/>
          <p:cNvSpPr/>
          <p:nvPr/>
        </p:nvSpPr>
        <p:spPr>
          <a:xfrm>
            <a:off x="931664" y="1684973"/>
            <a:ext cx="22860" cy="5697379"/>
          </a:xfrm>
          <a:prstGeom prst="roundRect">
            <a:avLst>
              <a:gd name="adj" fmla="val 123777"/>
            </a:avLst>
          </a:prstGeom>
          <a:solidFill>
            <a:srgbClr val="49606E"/>
          </a:solidFill>
          <a:ln/>
        </p:spPr>
      </p:sp>
      <p:sp>
        <p:nvSpPr>
          <p:cNvPr id="5" name="Shape 2"/>
          <p:cNvSpPr/>
          <p:nvPr/>
        </p:nvSpPr>
        <p:spPr>
          <a:xfrm>
            <a:off x="1132403" y="2097881"/>
            <a:ext cx="660202" cy="22860"/>
          </a:xfrm>
          <a:prstGeom prst="roundRect">
            <a:avLst>
              <a:gd name="adj" fmla="val 123777"/>
            </a:avLst>
          </a:prstGeom>
          <a:solidFill>
            <a:srgbClr val="49606E"/>
          </a:solidFill>
          <a:ln/>
        </p:spPr>
      </p:sp>
      <p:sp>
        <p:nvSpPr>
          <p:cNvPr id="6" name="Shape 3"/>
          <p:cNvSpPr/>
          <p:nvPr/>
        </p:nvSpPr>
        <p:spPr>
          <a:xfrm>
            <a:off x="730925" y="1897142"/>
            <a:ext cx="424339" cy="424339"/>
          </a:xfrm>
          <a:prstGeom prst="roundRect">
            <a:avLst>
              <a:gd name="adj" fmla="val 6668"/>
            </a:avLst>
          </a:prstGeom>
          <a:solidFill>
            <a:srgbClr val="304755"/>
          </a:solidFill>
          <a:ln/>
        </p:spPr>
      </p:sp>
      <p:sp>
        <p:nvSpPr>
          <p:cNvPr id="7" name="Text 4"/>
          <p:cNvSpPr/>
          <p:nvPr/>
        </p:nvSpPr>
        <p:spPr>
          <a:xfrm>
            <a:off x="880348" y="1976080"/>
            <a:ext cx="125492" cy="266343"/>
          </a:xfrm>
          <a:prstGeom prst="rect">
            <a:avLst/>
          </a:prstGeom>
          <a:noFill/>
          <a:ln/>
        </p:spPr>
        <p:txBody>
          <a:bodyPr wrap="none" lIns="0" tIns="0" rIns="0" bIns="0" rtlCol="0" anchor="t"/>
          <a:lstStyle/>
          <a:p>
            <a:pPr marL="0" indent="0" algn="ctr">
              <a:lnSpc>
                <a:spcPts val="2050"/>
              </a:lnSpc>
              <a:buNone/>
            </a:pPr>
            <a:r>
              <a:rPr lang="en-US" sz="2050" dirty="0">
                <a:solidFill>
                  <a:srgbClr val="CAD6DE"/>
                </a:solidFill>
                <a:latin typeface="Unbounded" pitchFamily="34" charset="0"/>
                <a:ea typeface="Unbounded" pitchFamily="34" charset="-122"/>
                <a:cs typeface="Unbounded" pitchFamily="34" charset="-120"/>
              </a:rPr>
              <a:t>1</a:t>
            </a:r>
            <a:endParaRPr lang="en-US" sz="2050" dirty="0"/>
          </a:p>
        </p:txBody>
      </p:sp>
      <p:sp>
        <p:nvSpPr>
          <p:cNvPr id="8" name="Text 5"/>
          <p:cNvSpPr/>
          <p:nvPr/>
        </p:nvSpPr>
        <p:spPr>
          <a:xfrm>
            <a:off x="1980486" y="1873568"/>
            <a:ext cx="2219206" cy="277416"/>
          </a:xfrm>
          <a:prstGeom prst="rect">
            <a:avLst/>
          </a:prstGeom>
          <a:noFill/>
          <a:ln/>
        </p:spPr>
        <p:txBody>
          <a:bodyPr wrap="none" lIns="0" tIns="0" rIns="0" bIns="0" rtlCol="0" anchor="t"/>
          <a:lstStyle/>
          <a:p>
            <a:pPr marL="0" indent="0" algn="l">
              <a:lnSpc>
                <a:spcPts val="2150"/>
              </a:lnSpc>
              <a:buNone/>
            </a:pPr>
            <a:r>
              <a:rPr lang="en-US" sz="1700" dirty="0">
                <a:solidFill>
                  <a:srgbClr val="CAD6DE"/>
                </a:solidFill>
                <a:latin typeface="Unbounded" pitchFamily="34" charset="0"/>
                <a:ea typeface="Unbounded" pitchFamily="34" charset="-122"/>
                <a:cs typeface="Unbounded" pitchFamily="34" charset="-120"/>
              </a:rPr>
              <a:t>Browse Workers</a:t>
            </a:r>
            <a:endParaRPr lang="en-US" sz="1700" dirty="0"/>
          </a:p>
        </p:txBody>
      </p:sp>
      <p:sp>
        <p:nvSpPr>
          <p:cNvPr id="9" name="Text 6"/>
          <p:cNvSpPr/>
          <p:nvPr/>
        </p:nvSpPr>
        <p:spPr>
          <a:xfrm>
            <a:off x="1980486" y="2264093"/>
            <a:ext cx="6503313" cy="905113"/>
          </a:xfrm>
          <a:prstGeom prst="rect">
            <a:avLst/>
          </a:prstGeom>
          <a:noFill/>
          <a:ln/>
        </p:spPr>
        <p:txBody>
          <a:bodyPr wrap="square" lIns="0" tIns="0" rIns="0" bIns="0" rtlCol="0" anchor="t"/>
          <a:lstStyle/>
          <a:p>
            <a:pPr marL="0" indent="0" algn="l">
              <a:lnSpc>
                <a:spcPts val="2350"/>
              </a:lnSpc>
              <a:buNone/>
            </a:pPr>
            <a:r>
              <a:rPr lang="en-US" sz="1450" dirty="0">
                <a:solidFill>
                  <a:srgbClr val="CAD6DE"/>
                </a:solidFill>
                <a:latin typeface="Cabin" pitchFamily="34" charset="0"/>
                <a:ea typeface="Cabin" pitchFamily="34" charset="-122"/>
                <a:cs typeface="Cabin" pitchFamily="34" charset="-120"/>
              </a:rPr>
              <a:t>Users can easily browse through a comprehensive list of service providers available nearby. These workers showcase their expertise and services, making it simple for users to find the right professional for their specific requirements.</a:t>
            </a:r>
            <a:endParaRPr lang="en-US" sz="1450" dirty="0"/>
          </a:p>
        </p:txBody>
      </p:sp>
      <p:sp>
        <p:nvSpPr>
          <p:cNvPr id="10" name="Shape 7"/>
          <p:cNvSpPr/>
          <p:nvPr/>
        </p:nvSpPr>
        <p:spPr>
          <a:xfrm>
            <a:off x="1132403" y="3959304"/>
            <a:ext cx="660202" cy="22860"/>
          </a:xfrm>
          <a:prstGeom prst="roundRect">
            <a:avLst>
              <a:gd name="adj" fmla="val 123777"/>
            </a:avLst>
          </a:prstGeom>
          <a:solidFill>
            <a:srgbClr val="49606E"/>
          </a:solidFill>
          <a:ln/>
        </p:spPr>
      </p:sp>
      <p:sp>
        <p:nvSpPr>
          <p:cNvPr id="11" name="Shape 8"/>
          <p:cNvSpPr/>
          <p:nvPr/>
        </p:nvSpPr>
        <p:spPr>
          <a:xfrm>
            <a:off x="730925" y="3758565"/>
            <a:ext cx="424339" cy="424339"/>
          </a:xfrm>
          <a:prstGeom prst="roundRect">
            <a:avLst>
              <a:gd name="adj" fmla="val 6668"/>
            </a:avLst>
          </a:prstGeom>
          <a:solidFill>
            <a:srgbClr val="304755"/>
          </a:solidFill>
          <a:ln/>
        </p:spPr>
      </p:sp>
      <p:sp>
        <p:nvSpPr>
          <p:cNvPr id="12" name="Text 9"/>
          <p:cNvSpPr/>
          <p:nvPr/>
        </p:nvSpPr>
        <p:spPr>
          <a:xfrm>
            <a:off x="837962" y="3837503"/>
            <a:ext cx="210145" cy="266343"/>
          </a:xfrm>
          <a:prstGeom prst="rect">
            <a:avLst/>
          </a:prstGeom>
          <a:noFill/>
          <a:ln/>
        </p:spPr>
        <p:txBody>
          <a:bodyPr wrap="none" lIns="0" tIns="0" rIns="0" bIns="0" rtlCol="0" anchor="t"/>
          <a:lstStyle/>
          <a:p>
            <a:pPr marL="0" indent="0" algn="ctr">
              <a:lnSpc>
                <a:spcPts val="2050"/>
              </a:lnSpc>
              <a:buNone/>
            </a:pPr>
            <a:r>
              <a:rPr lang="en-US" sz="2050" dirty="0">
                <a:solidFill>
                  <a:srgbClr val="CAD6DE"/>
                </a:solidFill>
                <a:latin typeface="Unbounded" pitchFamily="34" charset="0"/>
                <a:ea typeface="Unbounded" pitchFamily="34" charset="-122"/>
                <a:cs typeface="Unbounded" pitchFamily="34" charset="-120"/>
              </a:rPr>
              <a:t>2</a:t>
            </a:r>
            <a:endParaRPr lang="en-US" sz="2050" dirty="0"/>
          </a:p>
        </p:txBody>
      </p:sp>
      <p:sp>
        <p:nvSpPr>
          <p:cNvPr id="13" name="Text 10"/>
          <p:cNvSpPr/>
          <p:nvPr/>
        </p:nvSpPr>
        <p:spPr>
          <a:xfrm>
            <a:off x="1980486" y="3734991"/>
            <a:ext cx="2491859" cy="277416"/>
          </a:xfrm>
          <a:prstGeom prst="rect">
            <a:avLst/>
          </a:prstGeom>
          <a:noFill/>
          <a:ln/>
        </p:spPr>
        <p:txBody>
          <a:bodyPr wrap="none" lIns="0" tIns="0" rIns="0" bIns="0" rtlCol="0" anchor="t"/>
          <a:lstStyle/>
          <a:p>
            <a:pPr marL="0" indent="0" algn="l">
              <a:lnSpc>
                <a:spcPts val="2150"/>
              </a:lnSpc>
              <a:buNone/>
            </a:pPr>
            <a:r>
              <a:rPr lang="en-US" sz="1700" dirty="0">
                <a:solidFill>
                  <a:srgbClr val="CAD6DE"/>
                </a:solidFill>
                <a:latin typeface="Unbounded" pitchFamily="34" charset="0"/>
                <a:ea typeface="Unbounded" pitchFamily="34" charset="-122"/>
                <a:cs typeface="Unbounded" pitchFamily="34" charset="-120"/>
              </a:rPr>
              <a:t>Book Appointment</a:t>
            </a:r>
            <a:endParaRPr lang="en-US" sz="1700" dirty="0"/>
          </a:p>
        </p:txBody>
      </p:sp>
      <p:sp>
        <p:nvSpPr>
          <p:cNvPr id="14" name="Text 11"/>
          <p:cNvSpPr/>
          <p:nvPr/>
        </p:nvSpPr>
        <p:spPr>
          <a:xfrm>
            <a:off x="1980486" y="4125516"/>
            <a:ext cx="6503313" cy="905113"/>
          </a:xfrm>
          <a:prstGeom prst="rect">
            <a:avLst/>
          </a:prstGeom>
          <a:noFill/>
          <a:ln/>
        </p:spPr>
        <p:txBody>
          <a:bodyPr wrap="square" lIns="0" tIns="0" rIns="0" bIns="0" rtlCol="0" anchor="t"/>
          <a:lstStyle/>
          <a:p>
            <a:pPr marL="0" indent="0" algn="l">
              <a:lnSpc>
                <a:spcPts val="2350"/>
              </a:lnSpc>
              <a:buNone/>
            </a:pPr>
            <a:r>
              <a:rPr lang="en-US" sz="1450" dirty="0">
                <a:solidFill>
                  <a:srgbClr val="CAD6DE"/>
                </a:solidFill>
                <a:latin typeface="Cabin" pitchFamily="34" charset="0"/>
                <a:ea typeface="Cabin" pitchFamily="34" charset="-122"/>
                <a:cs typeface="Cabin" pitchFamily="34" charset="-120"/>
              </a:rPr>
              <a:t>Booking an appointment is a breeze, with a streamlined process that guarantees convenience and efficiency. Users can select their desired service, choose a convenient time slot, and confirm their booking with just a few taps.</a:t>
            </a:r>
            <a:endParaRPr lang="en-US" sz="1450" dirty="0"/>
          </a:p>
        </p:txBody>
      </p:sp>
      <p:sp>
        <p:nvSpPr>
          <p:cNvPr id="15" name="Shape 12"/>
          <p:cNvSpPr/>
          <p:nvPr/>
        </p:nvSpPr>
        <p:spPr>
          <a:xfrm>
            <a:off x="1132403" y="5820728"/>
            <a:ext cx="660202" cy="22860"/>
          </a:xfrm>
          <a:prstGeom prst="roundRect">
            <a:avLst>
              <a:gd name="adj" fmla="val 123777"/>
            </a:avLst>
          </a:prstGeom>
          <a:solidFill>
            <a:srgbClr val="49606E"/>
          </a:solidFill>
          <a:ln/>
        </p:spPr>
      </p:sp>
      <p:sp>
        <p:nvSpPr>
          <p:cNvPr id="16" name="Shape 13"/>
          <p:cNvSpPr/>
          <p:nvPr/>
        </p:nvSpPr>
        <p:spPr>
          <a:xfrm>
            <a:off x="730925" y="5619988"/>
            <a:ext cx="424339" cy="424339"/>
          </a:xfrm>
          <a:prstGeom prst="roundRect">
            <a:avLst>
              <a:gd name="adj" fmla="val 6668"/>
            </a:avLst>
          </a:prstGeom>
          <a:solidFill>
            <a:srgbClr val="304755"/>
          </a:solidFill>
          <a:ln/>
        </p:spPr>
      </p:sp>
      <p:sp>
        <p:nvSpPr>
          <p:cNvPr id="17" name="Text 14"/>
          <p:cNvSpPr/>
          <p:nvPr/>
        </p:nvSpPr>
        <p:spPr>
          <a:xfrm>
            <a:off x="836057" y="5698927"/>
            <a:ext cx="214074" cy="266343"/>
          </a:xfrm>
          <a:prstGeom prst="rect">
            <a:avLst/>
          </a:prstGeom>
          <a:noFill/>
          <a:ln/>
        </p:spPr>
        <p:txBody>
          <a:bodyPr wrap="none" lIns="0" tIns="0" rIns="0" bIns="0" rtlCol="0" anchor="t"/>
          <a:lstStyle/>
          <a:p>
            <a:pPr marL="0" indent="0" algn="ctr">
              <a:lnSpc>
                <a:spcPts val="2050"/>
              </a:lnSpc>
              <a:buNone/>
            </a:pPr>
            <a:r>
              <a:rPr lang="en-US" sz="2050" dirty="0">
                <a:solidFill>
                  <a:srgbClr val="CAD6DE"/>
                </a:solidFill>
                <a:latin typeface="Unbounded" pitchFamily="34" charset="0"/>
                <a:ea typeface="Unbounded" pitchFamily="34" charset="-122"/>
                <a:cs typeface="Unbounded" pitchFamily="34" charset="-120"/>
              </a:rPr>
              <a:t>3</a:t>
            </a:r>
            <a:endParaRPr lang="en-US" sz="2050" dirty="0"/>
          </a:p>
        </p:txBody>
      </p:sp>
      <p:sp>
        <p:nvSpPr>
          <p:cNvPr id="18" name="Text 15"/>
          <p:cNvSpPr/>
          <p:nvPr/>
        </p:nvSpPr>
        <p:spPr>
          <a:xfrm>
            <a:off x="1980486" y="5596414"/>
            <a:ext cx="4199692" cy="277416"/>
          </a:xfrm>
          <a:prstGeom prst="rect">
            <a:avLst/>
          </a:prstGeom>
          <a:noFill/>
          <a:ln/>
        </p:spPr>
        <p:txBody>
          <a:bodyPr wrap="none" lIns="0" tIns="0" rIns="0" bIns="0" rtlCol="0" anchor="t"/>
          <a:lstStyle/>
          <a:p>
            <a:pPr marL="0" indent="0" algn="l">
              <a:lnSpc>
                <a:spcPts val="2150"/>
              </a:lnSpc>
              <a:buNone/>
            </a:pPr>
            <a:r>
              <a:rPr lang="en-US" sz="1700" dirty="0">
                <a:solidFill>
                  <a:srgbClr val="CAD6DE"/>
                </a:solidFill>
                <a:latin typeface="Unbounded" pitchFamily="34" charset="0"/>
                <a:ea typeface="Unbounded" pitchFamily="34" charset="-122"/>
                <a:cs typeface="Unbounded" pitchFamily="34" charset="-120"/>
              </a:rPr>
              <a:t>Confirmation &amp; Communication</a:t>
            </a:r>
            <a:endParaRPr lang="en-US" sz="1700" dirty="0"/>
          </a:p>
        </p:txBody>
      </p:sp>
      <p:sp>
        <p:nvSpPr>
          <p:cNvPr id="19" name="Text 16"/>
          <p:cNvSpPr/>
          <p:nvPr/>
        </p:nvSpPr>
        <p:spPr>
          <a:xfrm>
            <a:off x="1980486" y="5986939"/>
            <a:ext cx="6503313" cy="1206818"/>
          </a:xfrm>
          <a:prstGeom prst="rect">
            <a:avLst/>
          </a:prstGeom>
          <a:noFill/>
          <a:ln/>
        </p:spPr>
        <p:txBody>
          <a:bodyPr wrap="square" lIns="0" tIns="0" rIns="0" bIns="0" rtlCol="0" anchor="t"/>
          <a:lstStyle/>
          <a:p>
            <a:pPr marL="0" indent="0" algn="l">
              <a:lnSpc>
                <a:spcPts val="2350"/>
              </a:lnSpc>
              <a:buNone/>
            </a:pPr>
            <a:r>
              <a:rPr lang="en-US" sz="1450" dirty="0">
                <a:solidFill>
                  <a:srgbClr val="CAD6DE"/>
                </a:solidFill>
                <a:latin typeface="Cabin" pitchFamily="34" charset="0"/>
                <a:ea typeface="Cabin" pitchFamily="34" charset="-122"/>
                <a:cs typeface="Cabin" pitchFamily="34" charset="-120"/>
              </a:rPr>
              <a:t>Upon receiving a service request, workers can promptly review and respond to it, either confirming or rejecting the booking based on their availability and schedule. This interactive feature ensures smooth communication between users and workers, facilitating successful service engagements.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9619" y="875943"/>
            <a:ext cx="7277457" cy="638294"/>
          </a:xfrm>
          <a:prstGeom prst="rect">
            <a:avLst/>
          </a:prstGeom>
          <a:noFill/>
          <a:ln/>
        </p:spPr>
        <p:txBody>
          <a:bodyPr wrap="none" lIns="0" tIns="0" rIns="0" bIns="0" rtlCol="0" anchor="t"/>
          <a:lstStyle/>
          <a:p>
            <a:pPr marL="0" indent="0">
              <a:lnSpc>
                <a:spcPts val="5000"/>
              </a:lnSpc>
              <a:buNone/>
            </a:pPr>
            <a:r>
              <a:rPr lang="en-US" sz="4000" dirty="0">
                <a:solidFill>
                  <a:srgbClr val="FFFFFF"/>
                </a:solidFill>
                <a:latin typeface="Unbounded" pitchFamily="34" charset="0"/>
                <a:ea typeface="Unbounded" pitchFamily="34" charset="-122"/>
                <a:cs typeface="Unbounded" pitchFamily="34" charset="-120"/>
              </a:rPr>
              <a:t>Efficient Administration</a:t>
            </a:r>
            <a:endParaRPr lang="en-US" sz="4000" dirty="0"/>
          </a:p>
        </p:txBody>
      </p:sp>
      <p:sp>
        <p:nvSpPr>
          <p:cNvPr id="4" name="Shape 1"/>
          <p:cNvSpPr/>
          <p:nvPr/>
        </p:nvSpPr>
        <p:spPr>
          <a:xfrm>
            <a:off x="759619" y="1839754"/>
            <a:ext cx="7624762" cy="1577578"/>
          </a:xfrm>
          <a:prstGeom prst="roundRect">
            <a:avLst>
              <a:gd name="adj" fmla="val 2064"/>
            </a:avLst>
          </a:prstGeom>
          <a:solidFill>
            <a:srgbClr val="304755"/>
          </a:solidFill>
          <a:ln/>
        </p:spPr>
      </p:sp>
      <p:sp>
        <p:nvSpPr>
          <p:cNvPr id="5" name="Text 2"/>
          <p:cNvSpPr/>
          <p:nvPr/>
        </p:nvSpPr>
        <p:spPr>
          <a:xfrm>
            <a:off x="976551" y="2056686"/>
            <a:ext cx="3672126" cy="319207"/>
          </a:xfrm>
          <a:prstGeom prst="rect">
            <a:avLst/>
          </a:prstGeom>
          <a:noFill/>
          <a:ln/>
        </p:spPr>
        <p:txBody>
          <a:bodyPr wrap="none" lIns="0" tIns="0" rIns="0" bIns="0" rtlCol="0" anchor="t"/>
          <a:lstStyle/>
          <a:p>
            <a:pPr marL="0" indent="0">
              <a:lnSpc>
                <a:spcPts val="2500"/>
              </a:lnSpc>
              <a:buNone/>
            </a:pPr>
            <a:r>
              <a:rPr lang="en-US" sz="2000" dirty="0">
                <a:solidFill>
                  <a:srgbClr val="CAD6DE"/>
                </a:solidFill>
                <a:latin typeface="Unbounded" pitchFamily="34" charset="0"/>
                <a:ea typeface="Unbounded" pitchFamily="34" charset="-122"/>
                <a:cs typeface="Unbounded" pitchFamily="34" charset="-120"/>
              </a:rPr>
              <a:t>User Activity Monitoring</a:t>
            </a:r>
            <a:endParaRPr lang="en-US" sz="2000" dirty="0"/>
          </a:p>
        </p:txBody>
      </p:sp>
      <p:sp>
        <p:nvSpPr>
          <p:cNvPr id="6" name="Text 3"/>
          <p:cNvSpPr/>
          <p:nvPr/>
        </p:nvSpPr>
        <p:spPr>
          <a:xfrm>
            <a:off x="976551" y="2506028"/>
            <a:ext cx="7190899" cy="694373"/>
          </a:xfrm>
          <a:prstGeom prst="rect">
            <a:avLst/>
          </a:prstGeom>
          <a:noFill/>
          <a:ln/>
        </p:spPr>
        <p:txBody>
          <a:bodyPr wrap="square" lIns="0" tIns="0" rIns="0" bIns="0" rtlCol="0" anchor="t"/>
          <a:lstStyle/>
          <a:p>
            <a:pPr marL="0" indent="0">
              <a:lnSpc>
                <a:spcPts val="2700"/>
              </a:lnSpc>
              <a:buNone/>
            </a:pPr>
            <a:r>
              <a:rPr lang="en-US" sz="1700" dirty="0">
                <a:solidFill>
                  <a:srgbClr val="CAD6DE"/>
                </a:solidFill>
                <a:latin typeface="Cabin" pitchFamily="34" charset="0"/>
                <a:ea typeface="Cabin" pitchFamily="34" charset="-122"/>
                <a:cs typeface="Cabin" pitchFamily="34" charset="-120"/>
              </a:rPr>
              <a:t>Admins are equipped with powerful management tools, allowing them to monitor user activity, ensuring a safe and reliable environment for all users.</a:t>
            </a:r>
            <a:endParaRPr lang="en-US" sz="1700" dirty="0"/>
          </a:p>
        </p:txBody>
      </p:sp>
      <p:sp>
        <p:nvSpPr>
          <p:cNvPr id="7" name="Shape 4"/>
          <p:cNvSpPr/>
          <p:nvPr/>
        </p:nvSpPr>
        <p:spPr>
          <a:xfrm>
            <a:off x="759619" y="3634264"/>
            <a:ext cx="7624762" cy="1577578"/>
          </a:xfrm>
          <a:prstGeom prst="roundRect">
            <a:avLst>
              <a:gd name="adj" fmla="val 2064"/>
            </a:avLst>
          </a:prstGeom>
          <a:solidFill>
            <a:srgbClr val="304755"/>
          </a:solidFill>
          <a:ln/>
        </p:spPr>
      </p:sp>
      <p:sp>
        <p:nvSpPr>
          <p:cNvPr id="8" name="Text 5"/>
          <p:cNvSpPr/>
          <p:nvPr/>
        </p:nvSpPr>
        <p:spPr>
          <a:xfrm>
            <a:off x="976551" y="3851196"/>
            <a:ext cx="4296489" cy="319207"/>
          </a:xfrm>
          <a:prstGeom prst="rect">
            <a:avLst/>
          </a:prstGeom>
          <a:noFill/>
          <a:ln/>
        </p:spPr>
        <p:txBody>
          <a:bodyPr wrap="none" lIns="0" tIns="0" rIns="0" bIns="0" rtlCol="0" anchor="t"/>
          <a:lstStyle/>
          <a:p>
            <a:pPr marL="0" indent="0">
              <a:lnSpc>
                <a:spcPts val="2500"/>
              </a:lnSpc>
              <a:buNone/>
            </a:pPr>
            <a:r>
              <a:rPr lang="en-US" sz="2000" dirty="0">
                <a:solidFill>
                  <a:srgbClr val="CAD6DE"/>
                </a:solidFill>
                <a:latin typeface="Unbounded" pitchFamily="34" charset="0"/>
                <a:ea typeface="Unbounded" pitchFamily="34" charset="-122"/>
                <a:cs typeface="Unbounded" pitchFamily="34" charset="-120"/>
              </a:rPr>
              <a:t>Worker Profile Management</a:t>
            </a:r>
            <a:endParaRPr lang="en-US" sz="2000" dirty="0"/>
          </a:p>
        </p:txBody>
      </p:sp>
      <p:sp>
        <p:nvSpPr>
          <p:cNvPr id="9" name="Text 6"/>
          <p:cNvSpPr/>
          <p:nvPr/>
        </p:nvSpPr>
        <p:spPr>
          <a:xfrm>
            <a:off x="976551" y="4300538"/>
            <a:ext cx="7190899" cy="694373"/>
          </a:xfrm>
          <a:prstGeom prst="rect">
            <a:avLst/>
          </a:prstGeom>
          <a:noFill/>
          <a:ln/>
        </p:spPr>
        <p:txBody>
          <a:bodyPr wrap="square" lIns="0" tIns="0" rIns="0" bIns="0" rtlCol="0" anchor="t"/>
          <a:lstStyle/>
          <a:p>
            <a:pPr marL="0" indent="0">
              <a:lnSpc>
                <a:spcPts val="2700"/>
              </a:lnSpc>
              <a:buNone/>
            </a:pPr>
            <a:r>
              <a:rPr lang="en-US" sz="1700" dirty="0">
                <a:solidFill>
                  <a:srgbClr val="CAD6DE"/>
                </a:solidFill>
                <a:latin typeface="Cabin" pitchFamily="34" charset="0"/>
                <a:ea typeface="Cabin" pitchFamily="34" charset="-122"/>
                <a:cs typeface="Cabin" pitchFamily="34" charset="-120"/>
              </a:rPr>
              <a:t>Admins can manage worker profiles, including approving new workers, reviewing their services, and addressing any issues or complaints.</a:t>
            </a:r>
            <a:endParaRPr lang="en-US" sz="1700" dirty="0"/>
          </a:p>
        </p:txBody>
      </p:sp>
      <p:sp>
        <p:nvSpPr>
          <p:cNvPr id="10" name="Shape 7"/>
          <p:cNvSpPr/>
          <p:nvPr/>
        </p:nvSpPr>
        <p:spPr>
          <a:xfrm>
            <a:off x="759619" y="5428774"/>
            <a:ext cx="7624762" cy="1924764"/>
          </a:xfrm>
          <a:prstGeom prst="roundRect">
            <a:avLst>
              <a:gd name="adj" fmla="val 1691"/>
            </a:avLst>
          </a:prstGeom>
          <a:solidFill>
            <a:srgbClr val="304755"/>
          </a:solidFill>
          <a:ln/>
        </p:spPr>
      </p:sp>
      <p:sp>
        <p:nvSpPr>
          <p:cNvPr id="11" name="Text 8"/>
          <p:cNvSpPr/>
          <p:nvPr/>
        </p:nvSpPr>
        <p:spPr>
          <a:xfrm>
            <a:off x="976551" y="5645706"/>
            <a:ext cx="2849880" cy="319207"/>
          </a:xfrm>
          <a:prstGeom prst="rect">
            <a:avLst/>
          </a:prstGeom>
          <a:noFill/>
          <a:ln/>
        </p:spPr>
        <p:txBody>
          <a:bodyPr wrap="none" lIns="0" tIns="0" rIns="0" bIns="0" rtlCol="0" anchor="t"/>
          <a:lstStyle/>
          <a:p>
            <a:pPr marL="0" indent="0">
              <a:lnSpc>
                <a:spcPts val="2500"/>
              </a:lnSpc>
              <a:buNone/>
            </a:pPr>
            <a:r>
              <a:rPr lang="en-US" sz="2000" dirty="0">
                <a:solidFill>
                  <a:srgbClr val="CAD6DE"/>
                </a:solidFill>
                <a:latin typeface="Unbounded" pitchFamily="34" charset="0"/>
                <a:ea typeface="Unbounded" pitchFamily="34" charset="-122"/>
                <a:cs typeface="Unbounded" pitchFamily="34" charset="-120"/>
              </a:rPr>
              <a:t>Dispute Resolution</a:t>
            </a:r>
            <a:endParaRPr lang="en-US" sz="2000" dirty="0"/>
          </a:p>
        </p:txBody>
      </p:sp>
      <p:sp>
        <p:nvSpPr>
          <p:cNvPr id="12" name="Text 9"/>
          <p:cNvSpPr/>
          <p:nvPr/>
        </p:nvSpPr>
        <p:spPr>
          <a:xfrm>
            <a:off x="976551" y="6095048"/>
            <a:ext cx="7190899" cy="1041559"/>
          </a:xfrm>
          <a:prstGeom prst="rect">
            <a:avLst/>
          </a:prstGeom>
          <a:noFill/>
          <a:ln/>
        </p:spPr>
        <p:txBody>
          <a:bodyPr wrap="square" lIns="0" tIns="0" rIns="0" bIns="0" rtlCol="0" anchor="t"/>
          <a:lstStyle/>
          <a:p>
            <a:pPr marL="0" indent="0">
              <a:lnSpc>
                <a:spcPts val="2700"/>
              </a:lnSpc>
              <a:buNone/>
            </a:pPr>
            <a:r>
              <a:rPr lang="en-US" sz="1700" dirty="0">
                <a:solidFill>
                  <a:srgbClr val="CAD6DE"/>
                </a:solidFill>
                <a:latin typeface="Cabin" pitchFamily="34" charset="0"/>
                <a:ea typeface="Cabin" pitchFamily="34" charset="-122"/>
                <a:cs typeface="Cabin" pitchFamily="34" charset="-120"/>
              </a:rPr>
              <a:t>The app's efficient administrative system oversees the entire platform, ensuring its seamless operation. Admins can address any issues or disputes that may arise, ensuring a safe and reliable environment for all users.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54048" y="968454"/>
            <a:ext cx="8677037" cy="801648"/>
          </a:xfrm>
          <a:prstGeom prst="rect">
            <a:avLst/>
          </a:prstGeom>
          <a:noFill/>
          <a:ln/>
        </p:spPr>
        <p:txBody>
          <a:bodyPr wrap="none" lIns="0" tIns="0" rIns="0" bIns="0" rtlCol="0" anchor="t"/>
          <a:lstStyle/>
          <a:p>
            <a:pPr marL="0" indent="0">
              <a:lnSpc>
                <a:spcPts val="6300"/>
              </a:lnSpc>
              <a:buNone/>
            </a:pPr>
            <a:r>
              <a:rPr lang="en-US" sz="5050" dirty="0">
                <a:solidFill>
                  <a:srgbClr val="FFFFFF"/>
                </a:solidFill>
                <a:latin typeface="Unbounded" pitchFamily="34" charset="0"/>
                <a:ea typeface="Unbounded" pitchFamily="34" charset="-122"/>
                <a:cs typeface="Unbounded" pitchFamily="34" charset="-120"/>
              </a:rPr>
              <a:t>Local Shop Integration</a:t>
            </a:r>
            <a:endParaRPr lang="en-US" sz="5050" dirty="0"/>
          </a:p>
        </p:txBody>
      </p:sp>
      <p:sp>
        <p:nvSpPr>
          <p:cNvPr id="3" name="Text 1"/>
          <p:cNvSpPr/>
          <p:nvPr/>
        </p:nvSpPr>
        <p:spPr>
          <a:xfrm>
            <a:off x="954048" y="2451497"/>
            <a:ext cx="3682603" cy="400883"/>
          </a:xfrm>
          <a:prstGeom prst="rect">
            <a:avLst/>
          </a:prstGeom>
          <a:noFill/>
          <a:ln/>
        </p:spPr>
        <p:txBody>
          <a:bodyPr wrap="none" lIns="0" tIns="0" rIns="0" bIns="0" rtlCol="0" anchor="t"/>
          <a:lstStyle/>
          <a:p>
            <a:pPr marL="0" indent="0">
              <a:lnSpc>
                <a:spcPts val="3150"/>
              </a:lnSpc>
              <a:buNone/>
            </a:pPr>
            <a:r>
              <a:rPr lang="en-US" sz="2500" dirty="0">
                <a:solidFill>
                  <a:srgbClr val="FFFFFF"/>
                </a:solidFill>
                <a:latin typeface="Unbounded" pitchFamily="34" charset="0"/>
                <a:ea typeface="Unbounded" pitchFamily="34" charset="-122"/>
                <a:cs typeface="Unbounded" pitchFamily="34" charset="-120"/>
              </a:rPr>
              <a:t>Shop Management</a:t>
            </a:r>
            <a:endParaRPr lang="en-US" sz="2500" dirty="0"/>
          </a:p>
        </p:txBody>
      </p:sp>
      <p:sp>
        <p:nvSpPr>
          <p:cNvPr id="4" name="Text 2"/>
          <p:cNvSpPr/>
          <p:nvPr/>
        </p:nvSpPr>
        <p:spPr>
          <a:xfrm>
            <a:off x="954048" y="3124914"/>
            <a:ext cx="3796903" cy="2617470"/>
          </a:xfrm>
          <a:prstGeom prst="rect">
            <a:avLst/>
          </a:prstGeom>
          <a:noFill/>
          <a:ln/>
        </p:spPr>
        <p:txBody>
          <a:bodyPr wrap="square" lIns="0" tIns="0" rIns="0" bIns="0" rtlCol="0" anchor="t"/>
          <a:lstStyle/>
          <a:p>
            <a:pPr marL="0" indent="0">
              <a:lnSpc>
                <a:spcPts val="3400"/>
              </a:lnSpc>
              <a:buNone/>
            </a:pPr>
            <a:r>
              <a:rPr lang="en-US" sz="2100" dirty="0">
                <a:solidFill>
                  <a:srgbClr val="CAD6DE"/>
                </a:solidFill>
                <a:latin typeface="Cabin" pitchFamily="34" charset="0"/>
                <a:ea typeface="Cabin" pitchFamily="34" charset="-122"/>
                <a:cs typeface="Cabin" pitchFamily="34" charset="-120"/>
              </a:rPr>
              <a:t>Shops can effortlessly manage their products and stock through a dedicated portal. They can add new products, update inventory, and track sales, all within the app.</a:t>
            </a:r>
            <a:endParaRPr lang="en-US" sz="2100" dirty="0"/>
          </a:p>
        </p:txBody>
      </p:sp>
      <p:sp>
        <p:nvSpPr>
          <p:cNvPr id="5" name="Text 3"/>
          <p:cNvSpPr/>
          <p:nvPr/>
        </p:nvSpPr>
        <p:spPr>
          <a:xfrm>
            <a:off x="5423654" y="2451497"/>
            <a:ext cx="3796903" cy="801767"/>
          </a:xfrm>
          <a:prstGeom prst="rect">
            <a:avLst/>
          </a:prstGeom>
          <a:noFill/>
          <a:ln/>
        </p:spPr>
        <p:txBody>
          <a:bodyPr wrap="square" lIns="0" tIns="0" rIns="0" bIns="0" rtlCol="0" anchor="t"/>
          <a:lstStyle/>
          <a:p>
            <a:pPr marL="0" indent="0">
              <a:lnSpc>
                <a:spcPts val="3150"/>
              </a:lnSpc>
              <a:buNone/>
            </a:pPr>
            <a:r>
              <a:rPr lang="en-US" sz="2500" dirty="0">
                <a:solidFill>
                  <a:srgbClr val="FFFFFF"/>
                </a:solidFill>
                <a:latin typeface="Unbounded" pitchFamily="34" charset="0"/>
                <a:ea typeface="Unbounded" pitchFamily="34" charset="-122"/>
                <a:cs typeface="Unbounded" pitchFamily="34" charset="-120"/>
              </a:rPr>
              <a:t>User Shopping Experience</a:t>
            </a:r>
            <a:endParaRPr lang="en-US" sz="2500" dirty="0"/>
          </a:p>
        </p:txBody>
      </p:sp>
      <p:sp>
        <p:nvSpPr>
          <p:cNvPr id="6" name="Text 4"/>
          <p:cNvSpPr/>
          <p:nvPr/>
        </p:nvSpPr>
        <p:spPr>
          <a:xfrm>
            <a:off x="5423654" y="3525798"/>
            <a:ext cx="3796903" cy="3489960"/>
          </a:xfrm>
          <a:prstGeom prst="rect">
            <a:avLst/>
          </a:prstGeom>
          <a:noFill/>
          <a:ln/>
        </p:spPr>
        <p:txBody>
          <a:bodyPr wrap="square" lIns="0" tIns="0" rIns="0" bIns="0" rtlCol="0" anchor="t"/>
          <a:lstStyle/>
          <a:p>
            <a:pPr marL="0" indent="0">
              <a:lnSpc>
                <a:spcPts val="3400"/>
              </a:lnSpc>
              <a:buNone/>
            </a:pPr>
            <a:r>
              <a:rPr lang="en-US" sz="2100" dirty="0">
                <a:solidFill>
                  <a:srgbClr val="CAD6DE"/>
                </a:solidFill>
                <a:latin typeface="Cabin" pitchFamily="34" charset="0"/>
                <a:ea typeface="Cabin" pitchFamily="34" charset="-122"/>
                <a:cs typeface="Cabin" pitchFamily="34" charset="-120"/>
              </a:rPr>
              <a:t>Users can explore nearby shops, browse their offerings, and conveniently place orders for desired items. The app provides a user-friendly interface for searching products, adding them to a cart, and completing the checkout process.</a:t>
            </a:r>
            <a:endParaRPr lang="en-US" sz="2100" dirty="0"/>
          </a:p>
        </p:txBody>
      </p:sp>
      <p:sp>
        <p:nvSpPr>
          <p:cNvPr id="7" name="Text 5"/>
          <p:cNvSpPr/>
          <p:nvPr/>
        </p:nvSpPr>
        <p:spPr>
          <a:xfrm>
            <a:off x="9893260" y="2451497"/>
            <a:ext cx="3207068" cy="400883"/>
          </a:xfrm>
          <a:prstGeom prst="rect">
            <a:avLst/>
          </a:prstGeom>
          <a:noFill/>
          <a:ln/>
        </p:spPr>
        <p:txBody>
          <a:bodyPr wrap="none" lIns="0" tIns="0" rIns="0" bIns="0" rtlCol="0" anchor="t"/>
          <a:lstStyle/>
          <a:p>
            <a:pPr marL="0" indent="0">
              <a:lnSpc>
                <a:spcPts val="3150"/>
              </a:lnSpc>
              <a:buNone/>
            </a:pPr>
            <a:r>
              <a:rPr lang="en-US" sz="2500" dirty="0">
                <a:solidFill>
                  <a:srgbClr val="FFFFFF"/>
                </a:solidFill>
                <a:latin typeface="Unbounded" pitchFamily="34" charset="0"/>
                <a:ea typeface="Unbounded" pitchFamily="34" charset="-122"/>
                <a:cs typeface="Unbounded" pitchFamily="34" charset="-120"/>
              </a:rPr>
              <a:t>Delivery Service</a:t>
            </a:r>
            <a:endParaRPr lang="en-US" sz="2500" dirty="0"/>
          </a:p>
        </p:txBody>
      </p:sp>
      <p:sp>
        <p:nvSpPr>
          <p:cNvPr id="8" name="Text 6"/>
          <p:cNvSpPr/>
          <p:nvPr/>
        </p:nvSpPr>
        <p:spPr>
          <a:xfrm>
            <a:off x="9893260" y="3124914"/>
            <a:ext cx="3796903" cy="3053715"/>
          </a:xfrm>
          <a:prstGeom prst="rect">
            <a:avLst/>
          </a:prstGeom>
          <a:noFill/>
          <a:ln/>
        </p:spPr>
        <p:txBody>
          <a:bodyPr wrap="square" lIns="0" tIns="0" rIns="0" bIns="0" rtlCol="0" anchor="t"/>
          <a:lstStyle/>
          <a:p>
            <a:pPr marL="0" indent="0">
              <a:lnSpc>
                <a:spcPts val="3400"/>
              </a:lnSpc>
              <a:buNone/>
            </a:pPr>
            <a:r>
              <a:rPr lang="en-US" sz="2100" dirty="0">
                <a:solidFill>
                  <a:srgbClr val="CAD6DE"/>
                </a:solidFill>
                <a:latin typeface="Cabin" pitchFamily="34" charset="0"/>
                <a:ea typeface="Cabin" pitchFamily="34" charset="-122"/>
                <a:cs typeface="Cabin" pitchFamily="34" charset="-120"/>
              </a:rPr>
              <a:t>The app offers a swift and reliable delivery service, ensuring customers receive their orders right at their doorstep. Users can track their orders in real-time and receive notifications about delivery status.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990243" y="1712000"/>
            <a:ext cx="7163514" cy="1664494"/>
          </a:xfrm>
          <a:prstGeom prst="rect">
            <a:avLst/>
          </a:prstGeom>
          <a:noFill/>
          <a:ln/>
        </p:spPr>
        <p:txBody>
          <a:bodyPr wrap="square" lIns="0" tIns="0" rIns="0" bIns="0" rtlCol="0" anchor="t"/>
          <a:lstStyle/>
          <a:p>
            <a:pPr marL="0" indent="0">
              <a:lnSpc>
                <a:spcPts val="6550"/>
              </a:lnSpc>
              <a:buNone/>
            </a:pPr>
            <a:r>
              <a:rPr lang="en-US" sz="5200" dirty="0">
                <a:solidFill>
                  <a:srgbClr val="FFFFFF"/>
                </a:solidFill>
                <a:latin typeface="Unbounded" pitchFamily="34" charset="0"/>
                <a:ea typeface="Unbounded" pitchFamily="34" charset="-122"/>
                <a:cs typeface="Unbounded" pitchFamily="34" charset="-120"/>
              </a:rPr>
              <a:t>Pharmacy Services</a:t>
            </a:r>
            <a:endParaRPr lang="en-US" sz="5200" dirty="0"/>
          </a:p>
        </p:txBody>
      </p:sp>
      <p:sp>
        <p:nvSpPr>
          <p:cNvPr id="4" name="Text 1"/>
          <p:cNvSpPr/>
          <p:nvPr/>
        </p:nvSpPr>
        <p:spPr>
          <a:xfrm>
            <a:off x="990243" y="3800832"/>
            <a:ext cx="7163514" cy="2716768"/>
          </a:xfrm>
          <a:prstGeom prst="rect">
            <a:avLst/>
          </a:prstGeom>
          <a:noFill/>
          <a:ln/>
        </p:spPr>
        <p:txBody>
          <a:bodyPr wrap="square" lIns="0" tIns="0" rIns="0" bIns="0" rtlCol="0" anchor="t"/>
          <a:lstStyle/>
          <a:p>
            <a:pPr marL="0" indent="0">
              <a:lnSpc>
                <a:spcPts val="3550"/>
              </a:lnSpc>
              <a:buNone/>
            </a:pPr>
            <a:r>
              <a:rPr lang="en-US" sz="2200" dirty="0">
                <a:solidFill>
                  <a:srgbClr val="CAD6DE"/>
                </a:solidFill>
                <a:latin typeface="Cabin" pitchFamily="34" charset="0"/>
                <a:ea typeface="Cabin" pitchFamily="34" charset="-122"/>
                <a:cs typeface="Cabin" pitchFamily="34" charset="-120"/>
              </a:rPr>
              <a:t>To address essential healthcare needs, Connect Me also features a pharmacy service. Users can conveniently order medicines through the app, streamlining the process of accessing vital healthcare products. The app ensures secure and reliable access to medications, providing users with a convenient and efficient solution for their healthcare needs.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066179" y="-473393"/>
            <a:ext cx="5486400" cy="8229600"/>
          </a:xfrm>
          <a:prstGeom prst="rect">
            <a:avLst/>
          </a:prstGeom>
        </p:spPr>
      </p:pic>
      <p:sp>
        <p:nvSpPr>
          <p:cNvPr id="3" name="Text 0"/>
          <p:cNvSpPr/>
          <p:nvPr/>
        </p:nvSpPr>
        <p:spPr>
          <a:xfrm>
            <a:off x="748546" y="795099"/>
            <a:ext cx="6872168" cy="629007"/>
          </a:xfrm>
          <a:prstGeom prst="rect">
            <a:avLst/>
          </a:prstGeom>
          <a:noFill/>
          <a:ln/>
        </p:spPr>
        <p:txBody>
          <a:bodyPr wrap="none" lIns="0" tIns="0" rIns="0" bIns="0" rtlCol="0" anchor="t"/>
          <a:lstStyle/>
          <a:p>
            <a:pPr marL="0" indent="0">
              <a:lnSpc>
                <a:spcPts val="4950"/>
              </a:lnSpc>
              <a:buNone/>
            </a:pPr>
            <a:r>
              <a:rPr lang="en-US" sz="3950" dirty="0">
                <a:solidFill>
                  <a:srgbClr val="FFFFFF"/>
                </a:solidFill>
                <a:latin typeface="Unbounded" pitchFamily="34" charset="0"/>
                <a:ea typeface="Unbounded" pitchFamily="34" charset="-122"/>
                <a:cs typeface="Unbounded" pitchFamily="34" charset="-120"/>
              </a:rPr>
              <a:t>Emergency Assistance</a:t>
            </a:r>
            <a:endParaRPr lang="en-US" sz="3950" dirty="0"/>
          </a:p>
        </p:txBody>
      </p:sp>
      <p:pic>
        <p:nvPicPr>
          <p:cNvPr id="4" name="Image 1" descr="preencoded.png"/>
          <p:cNvPicPr>
            <a:picLocks noChangeAspect="1"/>
          </p:cNvPicPr>
          <p:nvPr/>
        </p:nvPicPr>
        <p:blipFill>
          <a:blip r:embed="rId4"/>
          <a:stretch>
            <a:fillRect/>
          </a:stretch>
        </p:blipFill>
        <p:spPr>
          <a:xfrm>
            <a:off x="748546" y="1744861"/>
            <a:ext cx="1069300" cy="1896547"/>
          </a:xfrm>
          <a:prstGeom prst="rect">
            <a:avLst/>
          </a:prstGeom>
        </p:spPr>
      </p:pic>
      <p:sp>
        <p:nvSpPr>
          <p:cNvPr id="5" name="Text 1"/>
          <p:cNvSpPr/>
          <p:nvPr/>
        </p:nvSpPr>
        <p:spPr>
          <a:xfrm>
            <a:off x="2138601" y="1958697"/>
            <a:ext cx="3007400" cy="314444"/>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Emergency Request</a:t>
            </a:r>
            <a:endParaRPr lang="en-US" sz="1950" dirty="0"/>
          </a:p>
        </p:txBody>
      </p:sp>
      <p:sp>
        <p:nvSpPr>
          <p:cNvPr id="6" name="Text 2"/>
          <p:cNvSpPr/>
          <p:nvPr/>
        </p:nvSpPr>
        <p:spPr>
          <a:xfrm>
            <a:off x="2138601" y="2401372"/>
            <a:ext cx="6256853" cy="1026200"/>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When users find themselves in urgent situations, they can initiate an emergency request by either shaking their phone or using the volume buttons.</a:t>
            </a:r>
            <a:endParaRPr lang="en-US" sz="1650" dirty="0"/>
          </a:p>
        </p:txBody>
      </p:sp>
      <p:pic>
        <p:nvPicPr>
          <p:cNvPr id="7" name="Image 2" descr="preencoded.png"/>
          <p:cNvPicPr>
            <a:picLocks noChangeAspect="1"/>
          </p:cNvPicPr>
          <p:nvPr/>
        </p:nvPicPr>
        <p:blipFill>
          <a:blip r:embed="rId5"/>
          <a:stretch>
            <a:fillRect/>
          </a:stretch>
        </p:blipFill>
        <p:spPr>
          <a:xfrm>
            <a:off x="748546" y="3641407"/>
            <a:ext cx="1069300" cy="1896547"/>
          </a:xfrm>
          <a:prstGeom prst="rect">
            <a:avLst/>
          </a:prstGeom>
        </p:spPr>
      </p:pic>
      <p:sp>
        <p:nvSpPr>
          <p:cNvPr id="8" name="Text 3"/>
          <p:cNvSpPr/>
          <p:nvPr/>
        </p:nvSpPr>
        <p:spPr>
          <a:xfrm>
            <a:off x="2138601" y="3855244"/>
            <a:ext cx="2780467" cy="314444"/>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Alert Notifications</a:t>
            </a:r>
            <a:endParaRPr lang="en-US" sz="1950" dirty="0"/>
          </a:p>
        </p:txBody>
      </p:sp>
      <p:sp>
        <p:nvSpPr>
          <p:cNvPr id="9" name="Text 4"/>
          <p:cNvSpPr/>
          <p:nvPr/>
        </p:nvSpPr>
        <p:spPr>
          <a:xfrm>
            <a:off x="2138601" y="4297918"/>
            <a:ext cx="6256853" cy="1026200"/>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Nearby users will receive alerts about the emergency, facilitating prompt assistance and support. The app utilizes location data to identify nearby users who can provide help.</a:t>
            </a:r>
            <a:endParaRPr lang="en-US" sz="1650" dirty="0"/>
          </a:p>
        </p:txBody>
      </p:sp>
      <p:pic>
        <p:nvPicPr>
          <p:cNvPr id="10" name="Image 3" descr="preencoded.png"/>
          <p:cNvPicPr>
            <a:picLocks noChangeAspect="1"/>
          </p:cNvPicPr>
          <p:nvPr/>
        </p:nvPicPr>
        <p:blipFill>
          <a:blip r:embed="rId6"/>
          <a:stretch>
            <a:fillRect/>
          </a:stretch>
        </p:blipFill>
        <p:spPr>
          <a:xfrm>
            <a:off x="748546" y="5537954"/>
            <a:ext cx="1069300" cy="1896547"/>
          </a:xfrm>
          <a:prstGeom prst="rect">
            <a:avLst/>
          </a:prstGeom>
        </p:spPr>
      </p:pic>
      <p:sp>
        <p:nvSpPr>
          <p:cNvPr id="11" name="Text 5"/>
          <p:cNvSpPr/>
          <p:nvPr/>
        </p:nvSpPr>
        <p:spPr>
          <a:xfrm>
            <a:off x="2138601" y="5751790"/>
            <a:ext cx="3060502" cy="314444"/>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Community Support</a:t>
            </a:r>
            <a:endParaRPr lang="en-US" sz="1950" dirty="0"/>
          </a:p>
        </p:txBody>
      </p:sp>
      <p:sp>
        <p:nvSpPr>
          <p:cNvPr id="12" name="Text 6"/>
          <p:cNvSpPr/>
          <p:nvPr/>
        </p:nvSpPr>
        <p:spPr>
          <a:xfrm>
            <a:off x="2138601" y="6194465"/>
            <a:ext cx="6256853" cy="1026200"/>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The emergency feature fosters a sense of community by connecting users in need with those who can provide assistance. This feature empowers users to help each other in critical situations.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11182" y="3832621"/>
            <a:ext cx="6041469" cy="614601"/>
          </a:xfrm>
          <a:prstGeom prst="rect">
            <a:avLst/>
          </a:prstGeom>
          <a:noFill/>
          <a:ln/>
        </p:spPr>
        <p:txBody>
          <a:bodyPr wrap="none" lIns="0" tIns="0" rIns="0" bIns="0" rtlCol="0" anchor="t"/>
          <a:lstStyle/>
          <a:p>
            <a:pPr marL="0" indent="0">
              <a:lnSpc>
                <a:spcPts val="4800"/>
              </a:lnSpc>
              <a:buNone/>
            </a:pPr>
            <a:r>
              <a:rPr lang="en-US" sz="3850" dirty="0">
                <a:solidFill>
                  <a:srgbClr val="FFFFFF"/>
                </a:solidFill>
                <a:latin typeface="Unbounded" pitchFamily="34" charset="0"/>
                <a:ea typeface="Unbounded" pitchFamily="34" charset="-122"/>
                <a:cs typeface="Unbounded" pitchFamily="34" charset="-120"/>
              </a:rPr>
              <a:t>Module Descriptions</a:t>
            </a:r>
            <a:endParaRPr lang="en-US" sz="3850" dirty="0"/>
          </a:p>
        </p:txBody>
      </p:sp>
      <p:sp>
        <p:nvSpPr>
          <p:cNvPr id="4" name="Shape 1"/>
          <p:cNvSpPr/>
          <p:nvPr/>
        </p:nvSpPr>
        <p:spPr>
          <a:xfrm>
            <a:off x="6217682" y="1827609"/>
            <a:ext cx="470059" cy="470059"/>
          </a:xfrm>
          <a:prstGeom prst="roundRect">
            <a:avLst>
              <a:gd name="adj" fmla="val 6668"/>
            </a:avLst>
          </a:prstGeom>
          <a:solidFill>
            <a:srgbClr val="304755"/>
          </a:solidFill>
          <a:ln/>
        </p:spPr>
      </p:sp>
      <p:sp>
        <p:nvSpPr>
          <p:cNvPr id="5" name="Text 2"/>
          <p:cNvSpPr/>
          <p:nvPr/>
        </p:nvSpPr>
        <p:spPr>
          <a:xfrm>
            <a:off x="6383179" y="1915120"/>
            <a:ext cx="138946" cy="295037"/>
          </a:xfrm>
          <a:prstGeom prst="rect">
            <a:avLst/>
          </a:prstGeom>
          <a:noFill/>
          <a:ln/>
        </p:spPr>
        <p:txBody>
          <a:bodyPr wrap="none" lIns="0" tIns="0" rIns="0" bIns="0" rtlCol="0" anchor="t"/>
          <a:lstStyle/>
          <a:p>
            <a:pPr marL="0" indent="0" algn="ctr">
              <a:lnSpc>
                <a:spcPts val="2300"/>
              </a:lnSpc>
              <a:buNone/>
            </a:pPr>
            <a:r>
              <a:rPr lang="en-US" sz="2300" dirty="0">
                <a:solidFill>
                  <a:srgbClr val="CAD6DE"/>
                </a:solidFill>
                <a:latin typeface="Unbounded" pitchFamily="34" charset="0"/>
                <a:ea typeface="Unbounded" pitchFamily="34" charset="-122"/>
                <a:cs typeface="Unbounded" pitchFamily="34" charset="-120"/>
              </a:rPr>
              <a:t>1</a:t>
            </a:r>
            <a:endParaRPr lang="en-US" sz="2300" dirty="0"/>
          </a:p>
        </p:txBody>
      </p:sp>
      <p:sp>
        <p:nvSpPr>
          <p:cNvPr id="6" name="Text 3"/>
          <p:cNvSpPr/>
          <p:nvPr/>
        </p:nvSpPr>
        <p:spPr>
          <a:xfrm>
            <a:off x="6896695" y="1827609"/>
            <a:ext cx="2458403" cy="307300"/>
          </a:xfrm>
          <a:prstGeom prst="rect">
            <a:avLst/>
          </a:prstGeom>
          <a:noFill/>
          <a:ln/>
        </p:spPr>
        <p:txBody>
          <a:bodyPr wrap="none" lIns="0" tIns="0" rIns="0" bIns="0" rtlCol="0" anchor="t"/>
          <a:lstStyle/>
          <a:p>
            <a:pPr marL="0" indent="0">
              <a:lnSpc>
                <a:spcPts val="2400"/>
              </a:lnSpc>
              <a:buNone/>
            </a:pPr>
            <a:r>
              <a:rPr lang="en-US" sz="1900" dirty="0">
                <a:solidFill>
                  <a:srgbClr val="CAD6DE"/>
                </a:solidFill>
                <a:latin typeface="Unbounded" pitchFamily="34" charset="0"/>
                <a:ea typeface="Unbounded" pitchFamily="34" charset="-122"/>
                <a:cs typeface="Unbounded" pitchFamily="34" charset="-120"/>
              </a:rPr>
              <a:t>Admin</a:t>
            </a:r>
            <a:endParaRPr lang="en-US" sz="1900" dirty="0"/>
          </a:p>
        </p:txBody>
      </p:sp>
      <p:sp>
        <p:nvSpPr>
          <p:cNvPr id="7" name="Text 4"/>
          <p:cNvSpPr/>
          <p:nvPr/>
        </p:nvSpPr>
        <p:spPr>
          <a:xfrm>
            <a:off x="6896695" y="2260283"/>
            <a:ext cx="7002423" cy="668655"/>
          </a:xfrm>
          <a:prstGeom prst="rect">
            <a:avLst/>
          </a:prstGeom>
          <a:noFill/>
          <a:ln/>
        </p:spPr>
        <p:txBody>
          <a:bodyPr wrap="square" lIns="0" tIns="0" rIns="0" bIns="0" rtlCol="0" anchor="t"/>
          <a:lstStyle/>
          <a:p>
            <a:pPr marL="0" indent="0">
              <a:lnSpc>
                <a:spcPts val="2600"/>
              </a:lnSpc>
              <a:buNone/>
            </a:pPr>
            <a:r>
              <a:rPr lang="en-US" sz="1600" dirty="0">
                <a:solidFill>
                  <a:srgbClr val="CAD6DE"/>
                </a:solidFill>
                <a:latin typeface="Cabin" pitchFamily="34" charset="0"/>
                <a:ea typeface="Cabin" pitchFamily="34" charset="-122"/>
                <a:cs typeface="Cabin" pitchFamily="34" charset="-120"/>
              </a:rPr>
              <a:t>The admin module manages the entire platform, including approving new shops and workers, monitoring user activity, and resolving disputes.</a:t>
            </a:r>
            <a:endParaRPr lang="en-US" sz="1600" dirty="0"/>
          </a:p>
        </p:txBody>
      </p:sp>
      <p:sp>
        <p:nvSpPr>
          <p:cNvPr id="8" name="Shape 5"/>
          <p:cNvSpPr/>
          <p:nvPr/>
        </p:nvSpPr>
        <p:spPr>
          <a:xfrm>
            <a:off x="6217682" y="3372922"/>
            <a:ext cx="470059" cy="470059"/>
          </a:xfrm>
          <a:prstGeom prst="roundRect">
            <a:avLst>
              <a:gd name="adj" fmla="val 6668"/>
            </a:avLst>
          </a:prstGeom>
          <a:solidFill>
            <a:srgbClr val="304755"/>
          </a:solidFill>
          <a:ln/>
        </p:spPr>
      </p:sp>
      <p:sp>
        <p:nvSpPr>
          <p:cNvPr id="9" name="Text 6"/>
          <p:cNvSpPr/>
          <p:nvPr/>
        </p:nvSpPr>
        <p:spPr>
          <a:xfrm>
            <a:off x="6336268" y="3460433"/>
            <a:ext cx="232767" cy="295037"/>
          </a:xfrm>
          <a:prstGeom prst="rect">
            <a:avLst/>
          </a:prstGeom>
          <a:noFill/>
          <a:ln/>
        </p:spPr>
        <p:txBody>
          <a:bodyPr wrap="none" lIns="0" tIns="0" rIns="0" bIns="0" rtlCol="0" anchor="t"/>
          <a:lstStyle/>
          <a:p>
            <a:pPr marL="0" indent="0" algn="ctr">
              <a:lnSpc>
                <a:spcPts val="2300"/>
              </a:lnSpc>
              <a:buNone/>
            </a:pPr>
            <a:r>
              <a:rPr lang="en-US" sz="2300" dirty="0">
                <a:solidFill>
                  <a:srgbClr val="CAD6DE"/>
                </a:solidFill>
                <a:latin typeface="Unbounded" pitchFamily="34" charset="0"/>
                <a:ea typeface="Unbounded" pitchFamily="34" charset="-122"/>
                <a:cs typeface="Unbounded" pitchFamily="34" charset="-120"/>
              </a:rPr>
              <a:t>2</a:t>
            </a:r>
            <a:endParaRPr lang="en-US" sz="2300" dirty="0"/>
          </a:p>
        </p:txBody>
      </p:sp>
      <p:sp>
        <p:nvSpPr>
          <p:cNvPr id="10" name="Text 7"/>
          <p:cNvSpPr/>
          <p:nvPr/>
        </p:nvSpPr>
        <p:spPr>
          <a:xfrm>
            <a:off x="6896695" y="3372922"/>
            <a:ext cx="2458403" cy="307300"/>
          </a:xfrm>
          <a:prstGeom prst="rect">
            <a:avLst/>
          </a:prstGeom>
          <a:noFill/>
          <a:ln/>
        </p:spPr>
        <p:txBody>
          <a:bodyPr wrap="none" lIns="0" tIns="0" rIns="0" bIns="0" rtlCol="0" anchor="t"/>
          <a:lstStyle/>
          <a:p>
            <a:pPr marL="0" indent="0">
              <a:lnSpc>
                <a:spcPts val="2400"/>
              </a:lnSpc>
              <a:buNone/>
            </a:pPr>
            <a:r>
              <a:rPr lang="en-US" sz="1900" dirty="0">
                <a:solidFill>
                  <a:srgbClr val="CAD6DE"/>
                </a:solidFill>
                <a:latin typeface="Unbounded" pitchFamily="34" charset="0"/>
                <a:ea typeface="Unbounded" pitchFamily="34" charset="-122"/>
                <a:cs typeface="Unbounded" pitchFamily="34" charset="-120"/>
              </a:rPr>
              <a:t>Shops</a:t>
            </a:r>
            <a:endParaRPr lang="en-US" sz="1900" dirty="0"/>
          </a:p>
        </p:txBody>
      </p:sp>
      <p:sp>
        <p:nvSpPr>
          <p:cNvPr id="11" name="Text 8"/>
          <p:cNvSpPr/>
          <p:nvPr/>
        </p:nvSpPr>
        <p:spPr>
          <a:xfrm>
            <a:off x="6896695" y="3805595"/>
            <a:ext cx="7002423" cy="668655"/>
          </a:xfrm>
          <a:prstGeom prst="rect">
            <a:avLst/>
          </a:prstGeom>
          <a:noFill/>
          <a:ln/>
        </p:spPr>
        <p:txBody>
          <a:bodyPr wrap="square" lIns="0" tIns="0" rIns="0" bIns="0" rtlCol="0" anchor="t"/>
          <a:lstStyle/>
          <a:p>
            <a:pPr marL="0" indent="0">
              <a:lnSpc>
                <a:spcPts val="2600"/>
              </a:lnSpc>
              <a:buNone/>
            </a:pPr>
            <a:r>
              <a:rPr lang="en-US" sz="1600" dirty="0">
                <a:solidFill>
                  <a:srgbClr val="CAD6DE"/>
                </a:solidFill>
                <a:latin typeface="Cabin" pitchFamily="34" charset="0"/>
                <a:ea typeface="Cabin" pitchFamily="34" charset="-122"/>
                <a:cs typeface="Cabin" pitchFamily="34" charset="-120"/>
              </a:rPr>
              <a:t>The shop module allows local businesses to manage their products, stock, orders, and customer interactions.</a:t>
            </a:r>
            <a:endParaRPr lang="en-US" sz="1600" dirty="0"/>
          </a:p>
        </p:txBody>
      </p:sp>
      <p:sp>
        <p:nvSpPr>
          <p:cNvPr id="12" name="Shape 9"/>
          <p:cNvSpPr/>
          <p:nvPr/>
        </p:nvSpPr>
        <p:spPr>
          <a:xfrm>
            <a:off x="6217682" y="4918234"/>
            <a:ext cx="470059" cy="470059"/>
          </a:xfrm>
          <a:prstGeom prst="roundRect">
            <a:avLst>
              <a:gd name="adj" fmla="val 6668"/>
            </a:avLst>
          </a:prstGeom>
          <a:solidFill>
            <a:srgbClr val="304755"/>
          </a:solidFill>
          <a:ln/>
        </p:spPr>
      </p:sp>
      <p:sp>
        <p:nvSpPr>
          <p:cNvPr id="13" name="Text 10"/>
          <p:cNvSpPr/>
          <p:nvPr/>
        </p:nvSpPr>
        <p:spPr>
          <a:xfrm>
            <a:off x="6334125" y="5005745"/>
            <a:ext cx="237173" cy="295037"/>
          </a:xfrm>
          <a:prstGeom prst="rect">
            <a:avLst/>
          </a:prstGeom>
          <a:noFill/>
          <a:ln/>
        </p:spPr>
        <p:txBody>
          <a:bodyPr wrap="none" lIns="0" tIns="0" rIns="0" bIns="0" rtlCol="0" anchor="t"/>
          <a:lstStyle/>
          <a:p>
            <a:pPr marL="0" indent="0" algn="ctr">
              <a:lnSpc>
                <a:spcPts val="2300"/>
              </a:lnSpc>
              <a:buNone/>
            </a:pPr>
            <a:r>
              <a:rPr lang="en-US" sz="2300" dirty="0">
                <a:solidFill>
                  <a:srgbClr val="CAD6DE"/>
                </a:solidFill>
                <a:latin typeface="Unbounded" pitchFamily="34" charset="0"/>
                <a:ea typeface="Unbounded" pitchFamily="34" charset="-122"/>
                <a:cs typeface="Unbounded" pitchFamily="34" charset="-120"/>
              </a:rPr>
              <a:t>3</a:t>
            </a:r>
            <a:endParaRPr lang="en-US" sz="2300" dirty="0"/>
          </a:p>
        </p:txBody>
      </p:sp>
      <p:sp>
        <p:nvSpPr>
          <p:cNvPr id="14" name="Text 11"/>
          <p:cNvSpPr/>
          <p:nvPr/>
        </p:nvSpPr>
        <p:spPr>
          <a:xfrm>
            <a:off x="6896695" y="4918234"/>
            <a:ext cx="2458403" cy="307300"/>
          </a:xfrm>
          <a:prstGeom prst="rect">
            <a:avLst/>
          </a:prstGeom>
          <a:noFill/>
          <a:ln/>
        </p:spPr>
        <p:txBody>
          <a:bodyPr wrap="none" lIns="0" tIns="0" rIns="0" bIns="0" rtlCol="0" anchor="t"/>
          <a:lstStyle/>
          <a:p>
            <a:pPr marL="0" indent="0">
              <a:lnSpc>
                <a:spcPts val="2400"/>
              </a:lnSpc>
              <a:buNone/>
            </a:pPr>
            <a:r>
              <a:rPr lang="en-US" sz="1900" dirty="0">
                <a:solidFill>
                  <a:srgbClr val="CAD6DE"/>
                </a:solidFill>
                <a:latin typeface="Unbounded" pitchFamily="34" charset="0"/>
                <a:ea typeface="Unbounded" pitchFamily="34" charset="-122"/>
                <a:cs typeface="Unbounded" pitchFamily="34" charset="-120"/>
              </a:rPr>
              <a:t>Workers</a:t>
            </a:r>
            <a:endParaRPr lang="en-US" sz="1900" dirty="0"/>
          </a:p>
        </p:txBody>
      </p:sp>
      <p:sp>
        <p:nvSpPr>
          <p:cNvPr id="15" name="Text 12"/>
          <p:cNvSpPr/>
          <p:nvPr/>
        </p:nvSpPr>
        <p:spPr>
          <a:xfrm>
            <a:off x="6896695" y="5350907"/>
            <a:ext cx="7002423" cy="668655"/>
          </a:xfrm>
          <a:prstGeom prst="rect">
            <a:avLst/>
          </a:prstGeom>
          <a:noFill/>
          <a:ln/>
        </p:spPr>
        <p:txBody>
          <a:bodyPr wrap="square" lIns="0" tIns="0" rIns="0" bIns="0" rtlCol="0" anchor="t"/>
          <a:lstStyle/>
          <a:p>
            <a:pPr marL="0" indent="0">
              <a:lnSpc>
                <a:spcPts val="2600"/>
              </a:lnSpc>
              <a:buNone/>
            </a:pPr>
            <a:r>
              <a:rPr lang="en-US" sz="1600" dirty="0">
                <a:solidFill>
                  <a:srgbClr val="CAD6DE"/>
                </a:solidFill>
                <a:latin typeface="Cabin" pitchFamily="34" charset="0"/>
                <a:ea typeface="Cabin" pitchFamily="34" charset="-122"/>
                <a:cs typeface="Cabin" pitchFamily="34" charset="-120"/>
              </a:rPr>
              <a:t>The worker module enables service providers to manage their profiles, services, bookings, and customer reviews.</a:t>
            </a:r>
            <a:endParaRPr lang="en-US" sz="1600" dirty="0"/>
          </a:p>
        </p:txBody>
      </p:sp>
      <p:sp>
        <p:nvSpPr>
          <p:cNvPr id="16" name="Shape 13"/>
          <p:cNvSpPr/>
          <p:nvPr/>
        </p:nvSpPr>
        <p:spPr>
          <a:xfrm>
            <a:off x="6217682" y="6463546"/>
            <a:ext cx="470059" cy="470059"/>
          </a:xfrm>
          <a:prstGeom prst="roundRect">
            <a:avLst>
              <a:gd name="adj" fmla="val 6668"/>
            </a:avLst>
          </a:prstGeom>
          <a:solidFill>
            <a:srgbClr val="304755"/>
          </a:solidFill>
          <a:ln/>
        </p:spPr>
      </p:sp>
      <p:sp>
        <p:nvSpPr>
          <p:cNvPr id="17" name="Text 14"/>
          <p:cNvSpPr/>
          <p:nvPr/>
        </p:nvSpPr>
        <p:spPr>
          <a:xfrm>
            <a:off x="6334244" y="6551057"/>
            <a:ext cx="236934" cy="295037"/>
          </a:xfrm>
          <a:prstGeom prst="rect">
            <a:avLst/>
          </a:prstGeom>
          <a:noFill/>
          <a:ln/>
        </p:spPr>
        <p:txBody>
          <a:bodyPr wrap="none" lIns="0" tIns="0" rIns="0" bIns="0" rtlCol="0" anchor="t"/>
          <a:lstStyle/>
          <a:p>
            <a:pPr marL="0" indent="0" algn="ctr">
              <a:lnSpc>
                <a:spcPts val="2300"/>
              </a:lnSpc>
              <a:buNone/>
            </a:pPr>
            <a:r>
              <a:rPr lang="en-US" sz="2300" dirty="0">
                <a:solidFill>
                  <a:srgbClr val="CAD6DE"/>
                </a:solidFill>
                <a:latin typeface="Unbounded" pitchFamily="34" charset="0"/>
                <a:ea typeface="Unbounded" pitchFamily="34" charset="-122"/>
                <a:cs typeface="Unbounded" pitchFamily="34" charset="-120"/>
              </a:rPr>
              <a:t>4</a:t>
            </a:r>
            <a:endParaRPr lang="en-US" sz="2300" dirty="0"/>
          </a:p>
        </p:txBody>
      </p:sp>
      <p:sp>
        <p:nvSpPr>
          <p:cNvPr id="18" name="Text 15"/>
          <p:cNvSpPr/>
          <p:nvPr/>
        </p:nvSpPr>
        <p:spPr>
          <a:xfrm>
            <a:off x="6896695" y="6463546"/>
            <a:ext cx="2458403" cy="307300"/>
          </a:xfrm>
          <a:prstGeom prst="rect">
            <a:avLst/>
          </a:prstGeom>
          <a:noFill/>
          <a:ln/>
        </p:spPr>
        <p:txBody>
          <a:bodyPr wrap="none" lIns="0" tIns="0" rIns="0" bIns="0" rtlCol="0" anchor="t"/>
          <a:lstStyle/>
          <a:p>
            <a:pPr marL="0" indent="0">
              <a:lnSpc>
                <a:spcPts val="2400"/>
              </a:lnSpc>
              <a:buNone/>
            </a:pPr>
            <a:r>
              <a:rPr lang="en-US" sz="1900" dirty="0">
                <a:solidFill>
                  <a:srgbClr val="CAD6DE"/>
                </a:solidFill>
                <a:latin typeface="Unbounded" pitchFamily="34" charset="0"/>
                <a:ea typeface="Unbounded" pitchFamily="34" charset="-122"/>
                <a:cs typeface="Unbounded" pitchFamily="34" charset="-120"/>
              </a:rPr>
              <a:t>Users</a:t>
            </a:r>
            <a:endParaRPr lang="en-US" sz="1900" dirty="0"/>
          </a:p>
        </p:txBody>
      </p:sp>
      <p:sp>
        <p:nvSpPr>
          <p:cNvPr id="19" name="Text 16"/>
          <p:cNvSpPr/>
          <p:nvPr/>
        </p:nvSpPr>
        <p:spPr>
          <a:xfrm>
            <a:off x="6896695" y="6896219"/>
            <a:ext cx="7002423" cy="668655"/>
          </a:xfrm>
          <a:prstGeom prst="rect">
            <a:avLst/>
          </a:prstGeom>
          <a:noFill/>
          <a:ln/>
        </p:spPr>
        <p:txBody>
          <a:bodyPr wrap="square" lIns="0" tIns="0" rIns="0" bIns="0" rtlCol="0" anchor="t"/>
          <a:lstStyle/>
          <a:p>
            <a:pPr marL="0" indent="0">
              <a:lnSpc>
                <a:spcPts val="2600"/>
              </a:lnSpc>
              <a:buNone/>
            </a:pPr>
            <a:r>
              <a:rPr lang="en-US" sz="1600" dirty="0">
                <a:solidFill>
                  <a:srgbClr val="CAD6DE"/>
                </a:solidFill>
                <a:latin typeface="Cabin" pitchFamily="34" charset="0"/>
                <a:ea typeface="Cabin" pitchFamily="34" charset="-122"/>
                <a:cs typeface="Cabin" pitchFamily="34" charset="-120"/>
              </a:rPr>
              <a:t>The user module provides a platform for individuals to access services, order products, and request emergency assistance.</a:t>
            </a:r>
            <a:endParaRPr lang="en-US" sz="1600" dirty="0"/>
          </a:p>
        </p:txBody>
      </p:sp>
      <p:sp>
        <p:nvSpPr>
          <p:cNvPr id="20" name="Rectangle 19"/>
          <p:cNvSpPr/>
          <p:nvPr/>
        </p:nvSpPr>
        <p:spPr>
          <a:xfrm>
            <a:off x="12704323" y="7791855"/>
            <a:ext cx="1770434" cy="330741"/>
          </a:xfrm>
          <a:prstGeom prst="rect">
            <a:avLst/>
          </a:prstGeom>
          <a:solidFill>
            <a:srgbClr val="1128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2263"/>
            <a:ext cx="5486400" cy="8229600"/>
          </a:xfrm>
          <a:prstGeom prst="rect">
            <a:avLst/>
          </a:prstGeom>
        </p:spPr>
      </p:pic>
      <p:sp>
        <p:nvSpPr>
          <p:cNvPr id="3" name="Text 0"/>
          <p:cNvSpPr/>
          <p:nvPr/>
        </p:nvSpPr>
        <p:spPr>
          <a:xfrm>
            <a:off x="890587" y="1265158"/>
            <a:ext cx="6006227" cy="748427"/>
          </a:xfrm>
          <a:prstGeom prst="rect">
            <a:avLst/>
          </a:prstGeom>
          <a:noFill/>
          <a:ln/>
        </p:spPr>
        <p:txBody>
          <a:bodyPr wrap="none" lIns="0" tIns="0" rIns="0" bIns="0" rtlCol="0" anchor="t"/>
          <a:lstStyle/>
          <a:p>
            <a:pPr marL="0" indent="0">
              <a:lnSpc>
                <a:spcPts val="5850"/>
              </a:lnSpc>
              <a:buNone/>
            </a:pPr>
            <a:r>
              <a:rPr lang="en-US" sz="4700" dirty="0">
                <a:solidFill>
                  <a:srgbClr val="FFFFFF"/>
                </a:solidFill>
                <a:latin typeface="Unbounded" pitchFamily="34" charset="0"/>
                <a:ea typeface="Unbounded" pitchFamily="34" charset="-122"/>
                <a:cs typeface="Unbounded" pitchFamily="34" charset="-120"/>
              </a:rPr>
              <a:t>Admin Functions</a:t>
            </a:r>
            <a:endParaRPr lang="en-US" sz="4700" dirty="0"/>
          </a:p>
        </p:txBody>
      </p:sp>
      <p:sp>
        <p:nvSpPr>
          <p:cNvPr id="4" name="Shape 1"/>
          <p:cNvSpPr/>
          <p:nvPr/>
        </p:nvSpPr>
        <p:spPr>
          <a:xfrm>
            <a:off x="890587" y="2395299"/>
            <a:ext cx="7362825" cy="4569143"/>
          </a:xfrm>
          <a:prstGeom prst="roundRect">
            <a:avLst>
              <a:gd name="adj" fmla="val 835"/>
            </a:avLst>
          </a:prstGeom>
          <a:noFill/>
          <a:ln w="15240">
            <a:solidFill>
              <a:srgbClr val="FFFFFF">
                <a:alpha val="24000"/>
              </a:srgbClr>
            </a:solidFill>
            <a:prstDash val="solid"/>
          </a:ln>
        </p:spPr>
      </p:sp>
      <p:sp>
        <p:nvSpPr>
          <p:cNvPr id="5" name="Shape 2"/>
          <p:cNvSpPr/>
          <p:nvPr/>
        </p:nvSpPr>
        <p:spPr>
          <a:xfrm>
            <a:off x="905828" y="2410539"/>
            <a:ext cx="7331512" cy="1134666"/>
          </a:xfrm>
          <a:prstGeom prst="rect">
            <a:avLst/>
          </a:prstGeom>
          <a:solidFill>
            <a:srgbClr val="FFFFFF">
              <a:alpha val="4000"/>
            </a:srgbClr>
          </a:solidFill>
          <a:ln/>
        </p:spPr>
      </p:sp>
      <p:sp>
        <p:nvSpPr>
          <p:cNvPr id="6" name="Text 3"/>
          <p:cNvSpPr/>
          <p:nvPr/>
        </p:nvSpPr>
        <p:spPr>
          <a:xfrm>
            <a:off x="1161217" y="2570798"/>
            <a:ext cx="1930837" cy="407075"/>
          </a:xfrm>
          <a:prstGeom prst="rect">
            <a:avLst/>
          </a:prstGeom>
          <a:noFill/>
          <a:ln/>
        </p:spPr>
        <p:txBody>
          <a:bodyPr wrap="non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Login</a:t>
            </a:r>
            <a:endParaRPr lang="en-US" sz="2000" dirty="0"/>
          </a:p>
        </p:txBody>
      </p:sp>
      <p:sp>
        <p:nvSpPr>
          <p:cNvPr id="7" name="Text 4"/>
          <p:cNvSpPr/>
          <p:nvPr/>
        </p:nvSpPr>
        <p:spPr>
          <a:xfrm>
            <a:off x="3608546" y="2570798"/>
            <a:ext cx="192702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new shops and approve</a:t>
            </a:r>
            <a:endParaRPr lang="en-US" sz="2000" dirty="0"/>
          </a:p>
        </p:txBody>
      </p:sp>
      <p:sp>
        <p:nvSpPr>
          <p:cNvPr id="8" name="Text 5"/>
          <p:cNvSpPr/>
          <p:nvPr/>
        </p:nvSpPr>
        <p:spPr>
          <a:xfrm>
            <a:off x="6052066" y="2570798"/>
            <a:ext cx="193083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approved shops</a:t>
            </a:r>
            <a:endParaRPr lang="en-US" sz="2000" dirty="0"/>
          </a:p>
        </p:txBody>
      </p:sp>
      <p:sp>
        <p:nvSpPr>
          <p:cNvPr id="9" name="Shape 6"/>
          <p:cNvSpPr/>
          <p:nvPr/>
        </p:nvSpPr>
        <p:spPr>
          <a:xfrm>
            <a:off x="905828" y="3545205"/>
            <a:ext cx="7331512" cy="1541740"/>
          </a:xfrm>
          <a:prstGeom prst="rect">
            <a:avLst/>
          </a:prstGeom>
          <a:solidFill>
            <a:srgbClr val="000000">
              <a:alpha val="4000"/>
            </a:srgbClr>
          </a:solidFill>
          <a:ln/>
        </p:spPr>
      </p:sp>
      <p:sp>
        <p:nvSpPr>
          <p:cNvPr id="10" name="Text 7"/>
          <p:cNvSpPr/>
          <p:nvPr/>
        </p:nvSpPr>
        <p:spPr>
          <a:xfrm>
            <a:off x="1161217" y="3705463"/>
            <a:ext cx="193083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rejected shops</a:t>
            </a:r>
            <a:endParaRPr lang="en-US" sz="2000" dirty="0"/>
          </a:p>
        </p:txBody>
      </p:sp>
      <p:sp>
        <p:nvSpPr>
          <p:cNvPr id="11" name="Text 8"/>
          <p:cNvSpPr/>
          <p:nvPr/>
        </p:nvSpPr>
        <p:spPr>
          <a:xfrm>
            <a:off x="3608546" y="3705463"/>
            <a:ext cx="1927027" cy="1221224"/>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new workers and approve</a:t>
            </a:r>
            <a:endParaRPr lang="en-US" sz="2000" dirty="0"/>
          </a:p>
        </p:txBody>
      </p:sp>
      <p:sp>
        <p:nvSpPr>
          <p:cNvPr id="12" name="Text 9"/>
          <p:cNvSpPr/>
          <p:nvPr/>
        </p:nvSpPr>
        <p:spPr>
          <a:xfrm>
            <a:off x="6052066" y="3705463"/>
            <a:ext cx="193083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approved workers</a:t>
            </a:r>
            <a:endParaRPr lang="en-US" sz="2000" dirty="0"/>
          </a:p>
        </p:txBody>
      </p:sp>
      <p:sp>
        <p:nvSpPr>
          <p:cNvPr id="13" name="Shape 10"/>
          <p:cNvSpPr/>
          <p:nvPr/>
        </p:nvSpPr>
        <p:spPr>
          <a:xfrm>
            <a:off x="905828" y="5086945"/>
            <a:ext cx="7331512" cy="1134666"/>
          </a:xfrm>
          <a:prstGeom prst="rect">
            <a:avLst/>
          </a:prstGeom>
          <a:solidFill>
            <a:srgbClr val="FFFFFF">
              <a:alpha val="4000"/>
            </a:srgbClr>
          </a:solidFill>
          <a:ln/>
        </p:spPr>
      </p:sp>
      <p:sp>
        <p:nvSpPr>
          <p:cNvPr id="14" name="Text 11"/>
          <p:cNvSpPr/>
          <p:nvPr/>
        </p:nvSpPr>
        <p:spPr>
          <a:xfrm>
            <a:off x="1161217" y="5247203"/>
            <a:ext cx="193083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rejected workers</a:t>
            </a:r>
            <a:endParaRPr lang="en-US" sz="2000" dirty="0"/>
          </a:p>
        </p:txBody>
      </p:sp>
      <p:sp>
        <p:nvSpPr>
          <p:cNvPr id="15" name="Text 12"/>
          <p:cNvSpPr/>
          <p:nvPr/>
        </p:nvSpPr>
        <p:spPr>
          <a:xfrm>
            <a:off x="3608546" y="5247203"/>
            <a:ext cx="192702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registered users</a:t>
            </a:r>
            <a:endParaRPr lang="en-US" sz="2000" dirty="0"/>
          </a:p>
        </p:txBody>
      </p:sp>
      <p:sp>
        <p:nvSpPr>
          <p:cNvPr id="16" name="Text 13"/>
          <p:cNvSpPr/>
          <p:nvPr/>
        </p:nvSpPr>
        <p:spPr>
          <a:xfrm>
            <a:off x="6052066" y="5247203"/>
            <a:ext cx="1930837" cy="814149"/>
          </a:xfrm>
          <a:prstGeom prst="rect">
            <a:avLst/>
          </a:prstGeom>
          <a:noFill/>
          <a:ln/>
        </p:spPr>
        <p:txBody>
          <a:bodyPr wrap="squar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View complaints and send replies</a:t>
            </a:r>
            <a:endParaRPr lang="en-US" sz="2000" dirty="0"/>
          </a:p>
        </p:txBody>
      </p:sp>
      <p:sp>
        <p:nvSpPr>
          <p:cNvPr id="17" name="Shape 14"/>
          <p:cNvSpPr/>
          <p:nvPr/>
        </p:nvSpPr>
        <p:spPr>
          <a:xfrm>
            <a:off x="905828" y="6221611"/>
            <a:ext cx="7331512" cy="727591"/>
          </a:xfrm>
          <a:prstGeom prst="rect">
            <a:avLst/>
          </a:prstGeom>
          <a:solidFill>
            <a:srgbClr val="000000">
              <a:alpha val="4000"/>
            </a:srgbClr>
          </a:solidFill>
          <a:ln/>
        </p:spPr>
      </p:sp>
      <p:sp>
        <p:nvSpPr>
          <p:cNvPr id="18" name="Text 15"/>
          <p:cNvSpPr/>
          <p:nvPr/>
        </p:nvSpPr>
        <p:spPr>
          <a:xfrm>
            <a:off x="1161217" y="6381869"/>
            <a:ext cx="1930837" cy="407075"/>
          </a:xfrm>
          <a:prstGeom prst="rect">
            <a:avLst/>
          </a:prstGeom>
          <a:noFill/>
          <a:ln/>
        </p:spPr>
        <p:txBody>
          <a:bodyPr wrap="none" lIns="0" tIns="0" rIns="0" bIns="0" rtlCol="0" anchor="t"/>
          <a:lstStyle/>
          <a:p>
            <a:pPr marL="0" indent="0">
              <a:lnSpc>
                <a:spcPts val="3200"/>
              </a:lnSpc>
              <a:buNone/>
            </a:pPr>
            <a:r>
              <a:rPr lang="en-US" sz="2000" dirty="0">
                <a:solidFill>
                  <a:srgbClr val="CAD6DE"/>
                </a:solidFill>
                <a:latin typeface="Cabin" pitchFamily="34" charset="0"/>
                <a:ea typeface="Cabin" pitchFamily="34" charset="-122"/>
                <a:cs typeface="Cabin" pitchFamily="34" charset="-120"/>
              </a:rPr>
              <a:t>Change password</a:t>
            </a:r>
            <a:endParaRPr lang="en-US" sz="2000" dirty="0"/>
          </a:p>
        </p:txBody>
      </p:sp>
      <p:sp>
        <p:nvSpPr>
          <p:cNvPr id="19" name="Text 16"/>
          <p:cNvSpPr/>
          <p:nvPr/>
        </p:nvSpPr>
        <p:spPr>
          <a:xfrm>
            <a:off x="3608546" y="6381869"/>
            <a:ext cx="1927027" cy="407075"/>
          </a:xfrm>
          <a:prstGeom prst="rect">
            <a:avLst/>
          </a:prstGeom>
          <a:noFill/>
          <a:ln/>
        </p:spPr>
        <p:txBody>
          <a:bodyPr wrap="none" lIns="0" tIns="0" rIns="0" bIns="0" rtlCol="0" anchor="t"/>
          <a:lstStyle/>
          <a:p>
            <a:pPr marL="0" indent="0">
              <a:lnSpc>
                <a:spcPts val="3200"/>
              </a:lnSpc>
              <a:buNone/>
            </a:pPr>
            <a:endParaRPr lang="en-US" sz="2000" dirty="0"/>
          </a:p>
        </p:txBody>
      </p:sp>
      <p:sp>
        <p:nvSpPr>
          <p:cNvPr id="20" name="Text 17"/>
          <p:cNvSpPr/>
          <p:nvPr/>
        </p:nvSpPr>
        <p:spPr>
          <a:xfrm>
            <a:off x="6052066" y="6381869"/>
            <a:ext cx="1930837" cy="407075"/>
          </a:xfrm>
          <a:prstGeom prst="rect">
            <a:avLst/>
          </a:prstGeom>
          <a:noFill/>
          <a:ln/>
        </p:spPr>
        <p:txBody>
          <a:bodyPr wrap="none" lIns="0" tIns="0" rIns="0" bIns="0" rtlCol="0" anchor="t"/>
          <a:lstStyle/>
          <a:p>
            <a:pPr marL="0" indent="0">
              <a:lnSpc>
                <a:spcPts val="3200"/>
              </a:lnSpc>
              <a:buNone/>
            </a:pPr>
            <a:endParaRPr lang="en-US" sz="2000" dirty="0"/>
          </a:p>
        </p:txBody>
      </p:sp>
      <p:sp>
        <p:nvSpPr>
          <p:cNvPr id="23" name="Rectangle 22"/>
          <p:cNvSpPr/>
          <p:nvPr/>
        </p:nvSpPr>
        <p:spPr>
          <a:xfrm>
            <a:off x="9977377" y="324092"/>
            <a:ext cx="3819645" cy="1516283"/>
          </a:xfrm>
          <a:prstGeom prst="rect">
            <a:avLst/>
          </a:prstGeom>
          <a:solidFill>
            <a:srgbClr val="86D0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ln w="0"/>
                <a:solidFill>
                  <a:schemeClr val="bg1">
                    <a:lumMod val="95000"/>
                  </a:schemeClr>
                </a:solidFill>
                <a:effectLst>
                  <a:outerShdw blurRad="38100" dist="25400" dir="5400000" algn="ctr" rotWithShape="0">
                    <a:srgbClr val="6E747A">
                      <a:alpha val="43000"/>
                    </a:srgbClr>
                  </a:outerShdw>
                </a:effectLst>
              </a:rPr>
              <a:t>Connect me</a:t>
            </a:r>
            <a:endParaRPr lang="en-US" sz="3200" dirty="0">
              <a:ln w="0"/>
              <a:solidFill>
                <a:schemeClr val="bg1">
                  <a:lumMod val="95000"/>
                </a:schemeClr>
              </a:solidFill>
              <a:effectLst>
                <a:outerShdw blurRad="38100" dist="25400" dir="5400000" algn="ctr" rotWithShape="0">
                  <a:srgbClr val="6E747A">
                    <a:alpha val="43000"/>
                  </a:srgb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89540"/>
          </a:xfrm>
          <a:prstGeom prst="rect">
            <a:avLst/>
          </a:prstGeom>
        </p:spPr>
      </p:pic>
      <p:sp>
        <p:nvSpPr>
          <p:cNvPr id="3" name="Text 0"/>
          <p:cNvSpPr/>
          <p:nvPr/>
        </p:nvSpPr>
        <p:spPr>
          <a:xfrm>
            <a:off x="863790" y="3598070"/>
            <a:ext cx="5627370" cy="703302"/>
          </a:xfrm>
          <a:prstGeom prst="rect">
            <a:avLst/>
          </a:prstGeom>
          <a:noFill/>
          <a:ln/>
        </p:spPr>
        <p:txBody>
          <a:bodyPr wrap="non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Shop Functions</a:t>
            </a:r>
            <a:endParaRPr lang="en-US" sz="4400" dirty="0"/>
          </a:p>
        </p:txBody>
      </p:sp>
      <p:pic>
        <p:nvPicPr>
          <p:cNvPr id="4" name="Image 1" descr="preencoded.png"/>
          <p:cNvPicPr>
            <a:picLocks noChangeAspect="1"/>
          </p:cNvPicPr>
          <p:nvPr/>
        </p:nvPicPr>
        <p:blipFill>
          <a:blip r:embed="rId4"/>
          <a:stretch>
            <a:fillRect/>
          </a:stretch>
        </p:blipFill>
        <p:spPr>
          <a:xfrm>
            <a:off x="837009" y="4724757"/>
            <a:ext cx="597813" cy="597813"/>
          </a:xfrm>
          <a:prstGeom prst="rect">
            <a:avLst/>
          </a:prstGeom>
        </p:spPr>
      </p:pic>
      <p:sp>
        <p:nvSpPr>
          <p:cNvPr id="5" name="Text 1"/>
          <p:cNvSpPr/>
          <p:nvPr/>
        </p:nvSpPr>
        <p:spPr>
          <a:xfrm>
            <a:off x="837009" y="5561648"/>
            <a:ext cx="2813685" cy="351592"/>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Signup</a:t>
            </a:r>
            <a:endParaRPr lang="en-US" sz="2200" dirty="0"/>
          </a:p>
        </p:txBody>
      </p:sp>
      <p:sp>
        <p:nvSpPr>
          <p:cNvPr id="6" name="Text 2"/>
          <p:cNvSpPr/>
          <p:nvPr/>
        </p:nvSpPr>
        <p:spPr>
          <a:xfrm>
            <a:off x="837009" y="6056709"/>
            <a:ext cx="2970014" cy="1148001"/>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Shops can create an account on the platform, providing their details and information.</a:t>
            </a:r>
            <a:endParaRPr lang="en-US" sz="1850" dirty="0"/>
          </a:p>
        </p:txBody>
      </p:sp>
      <p:pic>
        <p:nvPicPr>
          <p:cNvPr id="7" name="Image 2" descr="preencoded.png"/>
          <p:cNvPicPr>
            <a:picLocks noChangeAspect="1"/>
          </p:cNvPicPr>
          <p:nvPr/>
        </p:nvPicPr>
        <p:blipFill>
          <a:blip r:embed="rId5"/>
          <a:stretch>
            <a:fillRect/>
          </a:stretch>
        </p:blipFill>
        <p:spPr>
          <a:xfrm>
            <a:off x="4165759" y="4724757"/>
            <a:ext cx="597813" cy="597813"/>
          </a:xfrm>
          <a:prstGeom prst="rect">
            <a:avLst/>
          </a:prstGeom>
        </p:spPr>
      </p:pic>
      <p:sp>
        <p:nvSpPr>
          <p:cNvPr id="8" name="Text 3"/>
          <p:cNvSpPr/>
          <p:nvPr/>
        </p:nvSpPr>
        <p:spPr>
          <a:xfrm>
            <a:off x="4165759" y="5561648"/>
            <a:ext cx="2813685" cy="351592"/>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Login</a:t>
            </a:r>
            <a:endParaRPr lang="en-US" sz="2200" dirty="0"/>
          </a:p>
        </p:txBody>
      </p:sp>
      <p:sp>
        <p:nvSpPr>
          <p:cNvPr id="9" name="Text 4"/>
          <p:cNvSpPr/>
          <p:nvPr/>
        </p:nvSpPr>
        <p:spPr>
          <a:xfrm>
            <a:off x="4165759" y="6056709"/>
            <a:ext cx="2970014" cy="1148001"/>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Shops can access their account and manage their operations.</a:t>
            </a:r>
            <a:endParaRPr lang="en-US" sz="1850" dirty="0"/>
          </a:p>
        </p:txBody>
      </p:sp>
      <p:pic>
        <p:nvPicPr>
          <p:cNvPr id="10" name="Image 3" descr="preencoded.png"/>
          <p:cNvPicPr>
            <a:picLocks noChangeAspect="1"/>
          </p:cNvPicPr>
          <p:nvPr/>
        </p:nvPicPr>
        <p:blipFill>
          <a:blip r:embed="rId6"/>
          <a:stretch>
            <a:fillRect/>
          </a:stretch>
        </p:blipFill>
        <p:spPr>
          <a:xfrm>
            <a:off x="7494508" y="4724757"/>
            <a:ext cx="597813" cy="597813"/>
          </a:xfrm>
          <a:prstGeom prst="rect">
            <a:avLst/>
          </a:prstGeom>
        </p:spPr>
      </p:pic>
      <p:sp>
        <p:nvSpPr>
          <p:cNvPr id="11" name="Text 5"/>
          <p:cNvSpPr/>
          <p:nvPr/>
        </p:nvSpPr>
        <p:spPr>
          <a:xfrm>
            <a:off x="7494508" y="5561648"/>
            <a:ext cx="2970014" cy="703183"/>
          </a:xfrm>
          <a:prstGeom prst="rect">
            <a:avLst/>
          </a:prstGeom>
          <a:noFill/>
          <a:ln/>
        </p:spPr>
        <p:txBody>
          <a:bodyPr wrap="squar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Product Management</a:t>
            </a:r>
            <a:endParaRPr lang="en-US" sz="2200" dirty="0"/>
          </a:p>
        </p:txBody>
      </p:sp>
      <p:sp>
        <p:nvSpPr>
          <p:cNvPr id="12" name="Text 6"/>
          <p:cNvSpPr/>
          <p:nvPr/>
        </p:nvSpPr>
        <p:spPr>
          <a:xfrm>
            <a:off x="7494508" y="6408301"/>
            <a:ext cx="2970014" cy="1148001"/>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Shops can add, edit, and remove products from their inventory.</a:t>
            </a:r>
            <a:endParaRPr lang="en-US" sz="1850" dirty="0"/>
          </a:p>
        </p:txBody>
      </p:sp>
      <p:pic>
        <p:nvPicPr>
          <p:cNvPr id="13" name="Image 4" descr="preencoded.png"/>
          <p:cNvPicPr>
            <a:picLocks noChangeAspect="1"/>
          </p:cNvPicPr>
          <p:nvPr/>
        </p:nvPicPr>
        <p:blipFill>
          <a:blip r:embed="rId7"/>
          <a:stretch>
            <a:fillRect/>
          </a:stretch>
        </p:blipFill>
        <p:spPr>
          <a:xfrm>
            <a:off x="10823258" y="4724757"/>
            <a:ext cx="597813" cy="597813"/>
          </a:xfrm>
          <a:prstGeom prst="rect">
            <a:avLst/>
          </a:prstGeom>
        </p:spPr>
      </p:pic>
      <p:sp>
        <p:nvSpPr>
          <p:cNvPr id="14" name="Text 7"/>
          <p:cNvSpPr/>
          <p:nvPr/>
        </p:nvSpPr>
        <p:spPr>
          <a:xfrm>
            <a:off x="10823258" y="5561648"/>
            <a:ext cx="2813685" cy="351592"/>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View Orders</a:t>
            </a:r>
            <a:endParaRPr lang="en-US" sz="2200" dirty="0"/>
          </a:p>
        </p:txBody>
      </p:sp>
      <p:sp>
        <p:nvSpPr>
          <p:cNvPr id="15" name="Text 8"/>
          <p:cNvSpPr/>
          <p:nvPr/>
        </p:nvSpPr>
        <p:spPr>
          <a:xfrm>
            <a:off x="10823258" y="6056709"/>
            <a:ext cx="2970133" cy="1148001"/>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Shops can track orders placed by users and manage their fulfillment.</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7712" y="588288"/>
            <a:ext cx="5026819" cy="628293"/>
          </a:xfrm>
          <a:prstGeom prst="rect">
            <a:avLst/>
          </a:prstGeom>
          <a:noFill/>
          <a:ln/>
        </p:spPr>
        <p:txBody>
          <a:bodyPr wrap="none" lIns="0" tIns="0" rIns="0" bIns="0" rtlCol="0" anchor="t"/>
          <a:lstStyle/>
          <a:p>
            <a:pPr marL="0" indent="0">
              <a:lnSpc>
                <a:spcPts val="4900"/>
              </a:lnSpc>
              <a:buNone/>
            </a:pPr>
            <a:r>
              <a:rPr lang="en-US" sz="3950" dirty="0">
                <a:solidFill>
                  <a:srgbClr val="FFFFFF"/>
                </a:solidFill>
                <a:latin typeface="Unbounded" pitchFamily="34" charset="0"/>
                <a:ea typeface="Unbounded" pitchFamily="34" charset="-122"/>
                <a:cs typeface="Unbounded" pitchFamily="34" charset="-120"/>
              </a:rPr>
              <a:t>User Functions</a:t>
            </a:r>
            <a:endParaRPr lang="en-US" sz="3950" dirty="0"/>
          </a:p>
        </p:txBody>
      </p:sp>
      <p:sp>
        <p:nvSpPr>
          <p:cNvPr id="4" name="Shape 1"/>
          <p:cNvSpPr/>
          <p:nvPr/>
        </p:nvSpPr>
        <p:spPr>
          <a:xfrm>
            <a:off x="747712" y="1777246"/>
            <a:ext cx="480655" cy="480655"/>
          </a:xfrm>
          <a:prstGeom prst="roundRect">
            <a:avLst>
              <a:gd name="adj" fmla="val 6667"/>
            </a:avLst>
          </a:prstGeom>
          <a:solidFill>
            <a:srgbClr val="304755"/>
          </a:solidFill>
          <a:ln/>
        </p:spPr>
      </p:sp>
      <p:sp>
        <p:nvSpPr>
          <p:cNvPr id="5" name="Text 2"/>
          <p:cNvSpPr/>
          <p:nvPr/>
        </p:nvSpPr>
        <p:spPr>
          <a:xfrm>
            <a:off x="916900" y="1866781"/>
            <a:ext cx="142161" cy="30158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1</a:t>
            </a:r>
            <a:endParaRPr lang="en-US" sz="2350" dirty="0"/>
          </a:p>
        </p:txBody>
      </p:sp>
      <p:sp>
        <p:nvSpPr>
          <p:cNvPr id="6" name="Text 3"/>
          <p:cNvSpPr/>
          <p:nvPr/>
        </p:nvSpPr>
        <p:spPr>
          <a:xfrm>
            <a:off x="1441966" y="1777246"/>
            <a:ext cx="3247549" cy="314087"/>
          </a:xfrm>
          <a:prstGeom prst="rect">
            <a:avLst/>
          </a:prstGeom>
          <a:noFill/>
          <a:ln/>
        </p:spPr>
        <p:txBody>
          <a:bodyPr wrap="none" lIns="0" tIns="0" rIns="0" bIns="0" rtlCol="0" anchor="t"/>
          <a:lstStyle/>
          <a:p>
            <a:pPr marL="0" indent="0">
              <a:lnSpc>
                <a:spcPts val="2450"/>
              </a:lnSpc>
              <a:buNone/>
            </a:pPr>
            <a:r>
              <a:rPr lang="en-US" sz="1950" dirty="0">
                <a:solidFill>
                  <a:srgbClr val="CAD6DE"/>
                </a:solidFill>
                <a:latin typeface="Unbounded" pitchFamily="34" charset="0"/>
                <a:ea typeface="Unbounded" pitchFamily="34" charset="-122"/>
                <a:cs typeface="Unbounded" pitchFamily="34" charset="-120"/>
              </a:rPr>
              <a:t>Search Nearby Shops</a:t>
            </a:r>
            <a:endParaRPr lang="en-US" sz="1950" dirty="0"/>
          </a:p>
        </p:txBody>
      </p:sp>
      <p:sp>
        <p:nvSpPr>
          <p:cNvPr id="7" name="Text 4"/>
          <p:cNvSpPr/>
          <p:nvPr/>
        </p:nvSpPr>
        <p:spPr>
          <a:xfrm>
            <a:off x="1441966" y="2219444"/>
            <a:ext cx="6954322" cy="683419"/>
          </a:xfrm>
          <a:prstGeom prst="rect">
            <a:avLst/>
          </a:prstGeom>
          <a:noFill/>
          <a:ln/>
        </p:spPr>
        <p:txBody>
          <a:bodyPr wrap="square" lIns="0" tIns="0" rIns="0" bIns="0" rtlCol="0" anchor="t"/>
          <a:lstStyle/>
          <a:p>
            <a:pPr marL="0" indent="0">
              <a:lnSpc>
                <a:spcPts val="2650"/>
              </a:lnSpc>
              <a:buNone/>
            </a:pPr>
            <a:r>
              <a:rPr lang="en-US" sz="1650" dirty="0">
                <a:solidFill>
                  <a:srgbClr val="CAD6DE"/>
                </a:solidFill>
                <a:latin typeface="Cabin" pitchFamily="34" charset="0"/>
                <a:ea typeface="Cabin" pitchFamily="34" charset="-122"/>
                <a:cs typeface="Cabin" pitchFamily="34" charset="-120"/>
              </a:rPr>
              <a:t>Users can easily find local shops based on their location and product categories.</a:t>
            </a:r>
            <a:endParaRPr lang="en-US" sz="1650" dirty="0"/>
          </a:p>
        </p:txBody>
      </p:sp>
      <p:sp>
        <p:nvSpPr>
          <p:cNvPr id="8" name="Shape 5"/>
          <p:cNvSpPr/>
          <p:nvPr/>
        </p:nvSpPr>
        <p:spPr>
          <a:xfrm>
            <a:off x="747712" y="3356729"/>
            <a:ext cx="480655" cy="480655"/>
          </a:xfrm>
          <a:prstGeom prst="roundRect">
            <a:avLst>
              <a:gd name="adj" fmla="val 6667"/>
            </a:avLst>
          </a:prstGeom>
          <a:solidFill>
            <a:srgbClr val="304755"/>
          </a:solidFill>
          <a:ln/>
        </p:spPr>
      </p:sp>
      <p:sp>
        <p:nvSpPr>
          <p:cNvPr id="9" name="Text 6"/>
          <p:cNvSpPr/>
          <p:nvPr/>
        </p:nvSpPr>
        <p:spPr>
          <a:xfrm>
            <a:off x="869037" y="3446264"/>
            <a:ext cx="238006" cy="30158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2</a:t>
            </a:r>
            <a:endParaRPr lang="en-US" sz="2350" dirty="0"/>
          </a:p>
        </p:txBody>
      </p:sp>
      <p:sp>
        <p:nvSpPr>
          <p:cNvPr id="10" name="Text 7"/>
          <p:cNvSpPr/>
          <p:nvPr/>
        </p:nvSpPr>
        <p:spPr>
          <a:xfrm>
            <a:off x="1441966" y="3356729"/>
            <a:ext cx="3564136" cy="314087"/>
          </a:xfrm>
          <a:prstGeom prst="rect">
            <a:avLst/>
          </a:prstGeom>
          <a:noFill/>
          <a:ln/>
        </p:spPr>
        <p:txBody>
          <a:bodyPr wrap="none" lIns="0" tIns="0" rIns="0" bIns="0" rtlCol="0" anchor="t"/>
          <a:lstStyle/>
          <a:p>
            <a:pPr marL="0" indent="0">
              <a:lnSpc>
                <a:spcPts val="2450"/>
              </a:lnSpc>
              <a:buNone/>
            </a:pPr>
            <a:r>
              <a:rPr lang="en-US" sz="1950" dirty="0">
                <a:solidFill>
                  <a:srgbClr val="CAD6DE"/>
                </a:solidFill>
                <a:latin typeface="Unbounded" pitchFamily="34" charset="0"/>
                <a:ea typeface="Unbounded" pitchFamily="34" charset="-122"/>
                <a:cs typeface="Unbounded" pitchFamily="34" charset="-120"/>
              </a:rPr>
              <a:t>Search Nearby Workers</a:t>
            </a:r>
            <a:endParaRPr lang="en-US" sz="1950" dirty="0"/>
          </a:p>
        </p:txBody>
      </p:sp>
      <p:sp>
        <p:nvSpPr>
          <p:cNvPr id="11" name="Text 8"/>
          <p:cNvSpPr/>
          <p:nvPr/>
        </p:nvSpPr>
        <p:spPr>
          <a:xfrm>
            <a:off x="1441966" y="3798927"/>
            <a:ext cx="6954322" cy="683419"/>
          </a:xfrm>
          <a:prstGeom prst="rect">
            <a:avLst/>
          </a:prstGeom>
          <a:noFill/>
          <a:ln/>
        </p:spPr>
        <p:txBody>
          <a:bodyPr wrap="square" lIns="0" tIns="0" rIns="0" bIns="0" rtlCol="0" anchor="t"/>
          <a:lstStyle/>
          <a:p>
            <a:pPr marL="0" indent="0">
              <a:lnSpc>
                <a:spcPts val="2650"/>
              </a:lnSpc>
              <a:buNone/>
            </a:pPr>
            <a:r>
              <a:rPr lang="en-US" sz="1650" dirty="0">
                <a:solidFill>
                  <a:srgbClr val="CAD6DE"/>
                </a:solidFill>
                <a:latin typeface="Cabin" pitchFamily="34" charset="0"/>
                <a:ea typeface="Cabin" pitchFamily="34" charset="-122"/>
                <a:cs typeface="Cabin" pitchFamily="34" charset="-120"/>
              </a:rPr>
              <a:t>Users can search for service providers based on their expertise, location, and customer reviews.</a:t>
            </a:r>
            <a:endParaRPr lang="en-US" sz="1650" dirty="0"/>
          </a:p>
        </p:txBody>
      </p:sp>
      <p:sp>
        <p:nvSpPr>
          <p:cNvPr id="12" name="Shape 9"/>
          <p:cNvSpPr/>
          <p:nvPr/>
        </p:nvSpPr>
        <p:spPr>
          <a:xfrm>
            <a:off x="747712" y="4936212"/>
            <a:ext cx="480655" cy="480655"/>
          </a:xfrm>
          <a:prstGeom prst="roundRect">
            <a:avLst>
              <a:gd name="adj" fmla="val 6667"/>
            </a:avLst>
          </a:prstGeom>
          <a:solidFill>
            <a:srgbClr val="304755"/>
          </a:solidFill>
          <a:ln/>
        </p:spPr>
      </p:sp>
      <p:sp>
        <p:nvSpPr>
          <p:cNvPr id="13" name="Text 10"/>
          <p:cNvSpPr/>
          <p:nvPr/>
        </p:nvSpPr>
        <p:spPr>
          <a:xfrm>
            <a:off x="866775" y="5025747"/>
            <a:ext cx="242530" cy="30158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3</a:t>
            </a:r>
            <a:endParaRPr lang="en-US" sz="2350" dirty="0"/>
          </a:p>
        </p:txBody>
      </p:sp>
      <p:sp>
        <p:nvSpPr>
          <p:cNvPr id="14" name="Text 11"/>
          <p:cNvSpPr/>
          <p:nvPr/>
        </p:nvSpPr>
        <p:spPr>
          <a:xfrm>
            <a:off x="1441966" y="4936212"/>
            <a:ext cx="2513409" cy="314087"/>
          </a:xfrm>
          <a:prstGeom prst="rect">
            <a:avLst/>
          </a:prstGeom>
          <a:noFill/>
          <a:ln/>
        </p:spPr>
        <p:txBody>
          <a:bodyPr wrap="none" lIns="0" tIns="0" rIns="0" bIns="0" rtlCol="0" anchor="t"/>
          <a:lstStyle/>
          <a:p>
            <a:pPr marL="0" indent="0">
              <a:lnSpc>
                <a:spcPts val="2450"/>
              </a:lnSpc>
              <a:buNone/>
            </a:pPr>
            <a:r>
              <a:rPr lang="en-US" sz="1950" dirty="0">
                <a:solidFill>
                  <a:srgbClr val="CAD6DE"/>
                </a:solidFill>
                <a:latin typeface="Unbounded" pitchFamily="34" charset="0"/>
                <a:ea typeface="Unbounded" pitchFamily="34" charset="-122"/>
                <a:cs typeface="Unbounded" pitchFamily="34" charset="-120"/>
              </a:rPr>
              <a:t>Book Services</a:t>
            </a:r>
            <a:endParaRPr lang="en-US" sz="1950" dirty="0"/>
          </a:p>
        </p:txBody>
      </p:sp>
      <p:sp>
        <p:nvSpPr>
          <p:cNvPr id="15" name="Text 12"/>
          <p:cNvSpPr/>
          <p:nvPr/>
        </p:nvSpPr>
        <p:spPr>
          <a:xfrm>
            <a:off x="1441966" y="5378410"/>
            <a:ext cx="6954322" cy="683419"/>
          </a:xfrm>
          <a:prstGeom prst="rect">
            <a:avLst/>
          </a:prstGeom>
          <a:noFill/>
          <a:ln/>
        </p:spPr>
        <p:txBody>
          <a:bodyPr wrap="square" lIns="0" tIns="0" rIns="0" bIns="0" rtlCol="0" anchor="t"/>
          <a:lstStyle/>
          <a:p>
            <a:pPr marL="0" indent="0">
              <a:lnSpc>
                <a:spcPts val="2650"/>
              </a:lnSpc>
              <a:buNone/>
            </a:pPr>
            <a:r>
              <a:rPr lang="en-US" sz="1650" dirty="0">
                <a:solidFill>
                  <a:srgbClr val="CAD6DE"/>
                </a:solidFill>
                <a:latin typeface="Cabin" pitchFamily="34" charset="0"/>
                <a:ea typeface="Cabin" pitchFamily="34" charset="-122"/>
                <a:cs typeface="Cabin" pitchFamily="34" charset="-120"/>
              </a:rPr>
              <a:t>Users can book services from verified workers, schedule appointments, and track their bookings.</a:t>
            </a:r>
            <a:endParaRPr lang="en-US" sz="1650" dirty="0"/>
          </a:p>
        </p:txBody>
      </p:sp>
      <p:sp>
        <p:nvSpPr>
          <p:cNvPr id="16" name="Shape 13"/>
          <p:cNvSpPr/>
          <p:nvPr/>
        </p:nvSpPr>
        <p:spPr>
          <a:xfrm>
            <a:off x="747712" y="6515695"/>
            <a:ext cx="480655" cy="480655"/>
          </a:xfrm>
          <a:prstGeom prst="roundRect">
            <a:avLst>
              <a:gd name="adj" fmla="val 6667"/>
            </a:avLst>
          </a:prstGeom>
          <a:solidFill>
            <a:srgbClr val="304755"/>
          </a:solidFill>
          <a:ln/>
        </p:spPr>
      </p:sp>
      <p:sp>
        <p:nvSpPr>
          <p:cNvPr id="17" name="Text 14"/>
          <p:cNvSpPr/>
          <p:nvPr/>
        </p:nvSpPr>
        <p:spPr>
          <a:xfrm>
            <a:off x="866894" y="6605230"/>
            <a:ext cx="242292" cy="30158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4</a:t>
            </a:r>
            <a:endParaRPr lang="en-US" sz="2350" dirty="0"/>
          </a:p>
        </p:txBody>
      </p:sp>
      <p:sp>
        <p:nvSpPr>
          <p:cNvPr id="18" name="Text 15"/>
          <p:cNvSpPr/>
          <p:nvPr/>
        </p:nvSpPr>
        <p:spPr>
          <a:xfrm>
            <a:off x="1441966" y="6515695"/>
            <a:ext cx="2513409" cy="314087"/>
          </a:xfrm>
          <a:prstGeom prst="rect">
            <a:avLst/>
          </a:prstGeom>
          <a:noFill/>
          <a:ln/>
        </p:spPr>
        <p:txBody>
          <a:bodyPr wrap="none" lIns="0" tIns="0" rIns="0" bIns="0" rtlCol="0" anchor="t"/>
          <a:lstStyle/>
          <a:p>
            <a:pPr marL="0" indent="0">
              <a:lnSpc>
                <a:spcPts val="2450"/>
              </a:lnSpc>
              <a:buNone/>
            </a:pPr>
            <a:r>
              <a:rPr lang="en-US" sz="1950" dirty="0">
                <a:solidFill>
                  <a:srgbClr val="CAD6DE"/>
                </a:solidFill>
                <a:latin typeface="Unbounded" pitchFamily="34" charset="0"/>
                <a:ea typeface="Unbounded" pitchFamily="34" charset="-122"/>
                <a:cs typeface="Unbounded" pitchFamily="34" charset="-120"/>
              </a:rPr>
              <a:t>Place Orders</a:t>
            </a:r>
            <a:endParaRPr lang="en-US" sz="1950" dirty="0"/>
          </a:p>
        </p:txBody>
      </p:sp>
      <p:sp>
        <p:nvSpPr>
          <p:cNvPr id="19" name="Text 16"/>
          <p:cNvSpPr/>
          <p:nvPr/>
        </p:nvSpPr>
        <p:spPr>
          <a:xfrm>
            <a:off x="1441966" y="6957893"/>
            <a:ext cx="6954322" cy="683419"/>
          </a:xfrm>
          <a:prstGeom prst="rect">
            <a:avLst/>
          </a:prstGeom>
          <a:noFill/>
          <a:ln/>
        </p:spPr>
        <p:txBody>
          <a:bodyPr wrap="square" lIns="0" tIns="0" rIns="0" bIns="0" rtlCol="0" anchor="t"/>
          <a:lstStyle/>
          <a:p>
            <a:pPr marL="0" indent="0">
              <a:lnSpc>
                <a:spcPts val="2650"/>
              </a:lnSpc>
              <a:buNone/>
            </a:pPr>
            <a:r>
              <a:rPr lang="en-US" sz="1650" dirty="0">
                <a:solidFill>
                  <a:srgbClr val="CAD6DE"/>
                </a:solidFill>
                <a:latin typeface="Cabin" pitchFamily="34" charset="0"/>
                <a:ea typeface="Cabin" pitchFamily="34" charset="-122"/>
                <a:cs typeface="Cabin" pitchFamily="34" charset="-120"/>
              </a:rPr>
              <a:t>Users can browse products from local shops, add them to their cart, and place orders for delivery.</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94613" y="775504"/>
            <a:ext cx="184731" cy="369332"/>
          </a:xfrm>
          <a:prstGeom prst="rect">
            <a:avLst/>
          </a:prstGeom>
          <a:noFill/>
        </p:spPr>
        <p:txBody>
          <a:bodyPr wrap="none" rtlCol="0">
            <a:spAutoFit/>
          </a:bodyPr>
          <a:lstStyle/>
          <a:p>
            <a:endParaRPr lang="en-US" dirty="0"/>
          </a:p>
        </p:txBody>
      </p:sp>
      <p:sp>
        <p:nvSpPr>
          <p:cNvPr id="6" name="TextBox 5"/>
          <p:cNvSpPr txBox="1"/>
          <p:nvPr/>
        </p:nvSpPr>
        <p:spPr>
          <a:xfrm>
            <a:off x="364139" y="217724"/>
            <a:ext cx="6030410" cy="769441"/>
          </a:xfrm>
          <a:prstGeom prst="rect">
            <a:avLst/>
          </a:prstGeom>
          <a:noFill/>
        </p:spPr>
        <p:txBody>
          <a:bodyPr wrap="square" rtlCol="0">
            <a:spAutoFit/>
          </a:bodyPr>
          <a:lstStyle/>
          <a:p>
            <a:pPr algn="just"/>
            <a:r>
              <a:rPr lang="en-US" sz="4400" dirty="0" smtClean="0">
                <a:solidFill>
                  <a:schemeClr val="bg1"/>
                </a:solidFill>
                <a:latin typeface="+mj-lt"/>
              </a:rPr>
              <a:t>Worker functions</a:t>
            </a:r>
            <a:endParaRPr lang="en-US" sz="4400" dirty="0">
              <a:latin typeface="+mj-lt"/>
            </a:endParaRPr>
          </a:p>
        </p:txBody>
      </p:sp>
      <p:sp>
        <p:nvSpPr>
          <p:cNvPr id="12" name="Text 2"/>
          <p:cNvSpPr/>
          <p:nvPr/>
        </p:nvSpPr>
        <p:spPr>
          <a:xfrm>
            <a:off x="916900" y="1866781"/>
            <a:ext cx="142161" cy="301585"/>
          </a:xfrm>
          <a:prstGeom prst="rect">
            <a:avLst/>
          </a:prstGeom>
          <a:noFill/>
          <a:ln/>
        </p:spPr>
        <p:txBody>
          <a:bodyPr wrap="none" lIns="0" tIns="0" rIns="0" bIns="0" rtlCol="0" anchor="t"/>
          <a:lstStyle/>
          <a:p>
            <a:pPr marL="0" indent="0" algn="ctr">
              <a:lnSpc>
                <a:spcPts val="2350"/>
              </a:lnSpc>
              <a:buNone/>
            </a:pPr>
            <a:endParaRPr lang="en-US" sz="2350" dirty="0"/>
          </a:p>
        </p:txBody>
      </p:sp>
      <p:sp>
        <p:nvSpPr>
          <p:cNvPr id="16" name="TextBox 15"/>
          <p:cNvSpPr txBox="1"/>
          <p:nvPr/>
        </p:nvSpPr>
        <p:spPr>
          <a:xfrm>
            <a:off x="987979" y="2726578"/>
            <a:ext cx="7569844" cy="216932"/>
          </a:xfrm>
          <a:prstGeom prst="rect">
            <a:avLst/>
          </a:prstGeom>
          <a:noFill/>
        </p:spPr>
        <p:txBody>
          <a:bodyPr wrap="square" rtlCol="0">
            <a:spAutoFit/>
          </a:bodyPr>
          <a:lstStyle/>
          <a:p>
            <a:endParaRPr lang="en-US"/>
          </a:p>
        </p:txBody>
      </p:sp>
      <p:sp>
        <p:nvSpPr>
          <p:cNvPr id="17" name="TextBox 16"/>
          <p:cNvSpPr txBox="1"/>
          <p:nvPr/>
        </p:nvSpPr>
        <p:spPr>
          <a:xfrm>
            <a:off x="1159397" y="3046071"/>
            <a:ext cx="52064" cy="369332"/>
          </a:xfrm>
          <a:prstGeom prst="rect">
            <a:avLst/>
          </a:prstGeom>
          <a:noFill/>
        </p:spPr>
        <p:txBody>
          <a:bodyPr wrap="square" rtlCol="0">
            <a:spAutoFit/>
          </a:bodyPr>
          <a:lstStyle/>
          <a:p>
            <a:endParaRPr lang="en-US"/>
          </a:p>
        </p:txBody>
      </p:sp>
      <p:sp>
        <p:nvSpPr>
          <p:cNvPr id="34" name="Shape 1"/>
          <p:cNvSpPr/>
          <p:nvPr/>
        </p:nvSpPr>
        <p:spPr>
          <a:xfrm>
            <a:off x="2158781" y="2980432"/>
            <a:ext cx="528995" cy="528995"/>
          </a:xfrm>
          <a:prstGeom prst="roundRect">
            <a:avLst>
              <a:gd name="adj" fmla="val 18668"/>
            </a:avLst>
          </a:prstGeom>
          <a:solidFill>
            <a:srgbClr val="283157"/>
          </a:solidFill>
          <a:ln w="7620">
            <a:solidFill>
              <a:srgbClr val="414A70"/>
            </a:solidFill>
            <a:prstDash val="solid"/>
          </a:ln>
        </p:spPr>
        <p:txBody>
          <a:bodyPr/>
          <a:lstStyle/>
          <a:p>
            <a:endParaRPr lang="en-US"/>
          </a:p>
        </p:txBody>
      </p:sp>
      <p:sp>
        <p:nvSpPr>
          <p:cNvPr id="35" name="Text 2"/>
          <p:cNvSpPr/>
          <p:nvPr/>
        </p:nvSpPr>
        <p:spPr>
          <a:xfrm>
            <a:off x="2342375" y="3068538"/>
            <a:ext cx="161687" cy="35266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2750" dirty="0">
                <a:solidFill>
                  <a:srgbClr val="EBECEF"/>
                </a:solidFill>
                <a:latin typeface="Fraunces Medium" pitchFamily="34" charset="0"/>
                <a:ea typeface="Fraunces Medium" pitchFamily="34" charset="-122"/>
                <a:cs typeface="Fraunces Medium" pitchFamily="34" charset="-120"/>
              </a:rPr>
              <a:t>1</a:t>
            </a:r>
            <a:endParaRPr lang="en-US" sz="2750" dirty="0"/>
          </a:p>
        </p:txBody>
      </p:sp>
      <p:sp>
        <p:nvSpPr>
          <p:cNvPr id="36" name="Text 3"/>
          <p:cNvSpPr/>
          <p:nvPr/>
        </p:nvSpPr>
        <p:spPr>
          <a:xfrm>
            <a:off x="2922805" y="2980432"/>
            <a:ext cx="2939058" cy="367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2300" dirty="0">
                <a:solidFill>
                  <a:srgbClr val="EBECEF"/>
                </a:solidFill>
                <a:latin typeface="Fraunces Medium" pitchFamily="34" charset="0"/>
                <a:ea typeface="Fraunces Medium" pitchFamily="34" charset="-122"/>
                <a:cs typeface="Fraunces Medium" pitchFamily="34" charset="-120"/>
              </a:rPr>
              <a:t>Sign Up &amp; Log In</a:t>
            </a:r>
            <a:endParaRPr lang="en-US" sz="2300" dirty="0"/>
          </a:p>
        </p:txBody>
      </p:sp>
      <p:sp>
        <p:nvSpPr>
          <p:cNvPr id="37" name="Text 4"/>
          <p:cNvSpPr/>
          <p:nvPr/>
        </p:nvSpPr>
        <p:spPr>
          <a:xfrm>
            <a:off x="2922805" y="3488829"/>
            <a:ext cx="5610701" cy="37623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950"/>
              </a:lnSpc>
              <a:buNone/>
            </a:pPr>
            <a:r>
              <a:rPr lang="en-US" sz="1850" dirty="0">
                <a:solidFill>
                  <a:srgbClr val="EBECEF"/>
                </a:solidFill>
                <a:latin typeface="Epilogue" pitchFamily="34" charset="0"/>
                <a:ea typeface="Epilogue" pitchFamily="34" charset="-122"/>
                <a:cs typeface="Epilogue" pitchFamily="34" charset="-120"/>
              </a:rPr>
              <a:t>Create an account and access the platform.</a:t>
            </a:r>
            <a:endParaRPr lang="en-US" sz="1850" dirty="0"/>
          </a:p>
        </p:txBody>
      </p:sp>
      <p:sp>
        <p:nvSpPr>
          <p:cNvPr id="38" name="Shape 5"/>
          <p:cNvSpPr/>
          <p:nvPr/>
        </p:nvSpPr>
        <p:spPr>
          <a:xfrm>
            <a:off x="8768536" y="2980432"/>
            <a:ext cx="528995" cy="528995"/>
          </a:xfrm>
          <a:prstGeom prst="roundRect">
            <a:avLst>
              <a:gd name="adj" fmla="val 18668"/>
            </a:avLst>
          </a:prstGeom>
          <a:solidFill>
            <a:srgbClr val="283157"/>
          </a:solidFill>
          <a:ln w="7620">
            <a:solidFill>
              <a:srgbClr val="414A70"/>
            </a:solidFill>
            <a:prstDash val="solid"/>
          </a:ln>
        </p:spPr>
        <p:txBody>
          <a:bodyPr/>
          <a:lstStyle/>
          <a:p>
            <a:endParaRPr lang="en-US"/>
          </a:p>
        </p:txBody>
      </p:sp>
      <p:sp>
        <p:nvSpPr>
          <p:cNvPr id="39" name="Text 6"/>
          <p:cNvSpPr/>
          <p:nvPr/>
        </p:nvSpPr>
        <p:spPr>
          <a:xfrm>
            <a:off x="8926174" y="3068538"/>
            <a:ext cx="213717" cy="35266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2750" dirty="0">
                <a:solidFill>
                  <a:srgbClr val="EBECEF"/>
                </a:solidFill>
                <a:latin typeface="Fraunces Medium" pitchFamily="34" charset="0"/>
                <a:ea typeface="Fraunces Medium" pitchFamily="34" charset="-122"/>
                <a:cs typeface="Fraunces Medium" pitchFamily="34" charset="-120"/>
              </a:rPr>
              <a:t>2</a:t>
            </a:r>
            <a:endParaRPr lang="en-US" sz="2750" dirty="0"/>
          </a:p>
        </p:txBody>
      </p:sp>
      <p:sp>
        <p:nvSpPr>
          <p:cNvPr id="40" name="Text 7"/>
          <p:cNvSpPr/>
          <p:nvPr/>
        </p:nvSpPr>
        <p:spPr>
          <a:xfrm>
            <a:off x="9532560" y="2980432"/>
            <a:ext cx="2939058" cy="367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2300" dirty="0">
                <a:solidFill>
                  <a:srgbClr val="EBECEF"/>
                </a:solidFill>
                <a:latin typeface="Fraunces Medium" pitchFamily="34" charset="0"/>
                <a:ea typeface="Fraunces Medium" pitchFamily="34" charset="-122"/>
                <a:cs typeface="Fraunces Medium" pitchFamily="34" charset="-120"/>
              </a:rPr>
              <a:t>Manage Service</a:t>
            </a:r>
            <a:endParaRPr lang="en-US" sz="2300" dirty="0"/>
          </a:p>
        </p:txBody>
      </p:sp>
      <p:sp>
        <p:nvSpPr>
          <p:cNvPr id="41" name="Shape 9"/>
          <p:cNvSpPr/>
          <p:nvPr/>
        </p:nvSpPr>
        <p:spPr>
          <a:xfrm>
            <a:off x="2167984" y="4378054"/>
            <a:ext cx="528995" cy="528995"/>
          </a:xfrm>
          <a:prstGeom prst="roundRect">
            <a:avLst>
              <a:gd name="adj" fmla="val 18668"/>
            </a:avLst>
          </a:prstGeom>
          <a:solidFill>
            <a:srgbClr val="283157"/>
          </a:solidFill>
          <a:ln w="7620">
            <a:solidFill>
              <a:srgbClr val="414A70"/>
            </a:solidFill>
            <a:prstDash val="solid"/>
          </a:ln>
        </p:spPr>
        <p:txBody>
          <a:bodyPr/>
          <a:lstStyle/>
          <a:p>
            <a:endParaRPr lang="en-US"/>
          </a:p>
        </p:txBody>
      </p:sp>
      <p:sp>
        <p:nvSpPr>
          <p:cNvPr id="42" name="Text 10"/>
          <p:cNvSpPr/>
          <p:nvPr/>
        </p:nvSpPr>
        <p:spPr>
          <a:xfrm>
            <a:off x="2325945" y="4452640"/>
            <a:ext cx="194667" cy="35266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2750" dirty="0">
                <a:solidFill>
                  <a:srgbClr val="EBECEF"/>
                </a:solidFill>
                <a:latin typeface="Fraunces Medium" pitchFamily="34" charset="0"/>
                <a:ea typeface="Fraunces Medium" pitchFamily="34" charset="-122"/>
                <a:cs typeface="Fraunces Medium" pitchFamily="34" charset="-120"/>
              </a:rPr>
              <a:t>3</a:t>
            </a:r>
            <a:endParaRPr lang="en-US" sz="2750" dirty="0"/>
          </a:p>
        </p:txBody>
      </p:sp>
      <p:sp>
        <p:nvSpPr>
          <p:cNvPr id="43" name="Text 11"/>
          <p:cNvSpPr/>
          <p:nvPr/>
        </p:nvSpPr>
        <p:spPr>
          <a:xfrm>
            <a:off x="2922805" y="4364533"/>
            <a:ext cx="2939058" cy="367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2300" dirty="0">
                <a:solidFill>
                  <a:srgbClr val="EBECEF"/>
                </a:solidFill>
                <a:latin typeface="Fraunces Medium" pitchFamily="34" charset="0"/>
                <a:ea typeface="Fraunces Medium" pitchFamily="34" charset="-122"/>
                <a:cs typeface="Fraunces Medium" pitchFamily="34" charset="-120"/>
              </a:rPr>
              <a:t>View Profile</a:t>
            </a:r>
            <a:endParaRPr lang="en-US" sz="2300" dirty="0"/>
          </a:p>
        </p:txBody>
      </p:sp>
      <p:sp>
        <p:nvSpPr>
          <p:cNvPr id="44" name="Text 12"/>
          <p:cNvSpPr/>
          <p:nvPr/>
        </p:nvSpPr>
        <p:spPr>
          <a:xfrm>
            <a:off x="2922805" y="4872930"/>
            <a:ext cx="5610701" cy="37623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950"/>
              </a:lnSpc>
              <a:buNone/>
            </a:pPr>
            <a:r>
              <a:rPr lang="en-US" sz="1850" dirty="0">
                <a:solidFill>
                  <a:srgbClr val="EBECEF"/>
                </a:solidFill>
                <a:latin typeface="Epilogue" pitchFamily="34" charset="0"/>
                <a:ea typeface="Epilogue" pitchFamily="34" charset="-122"/>
                <a:cs typeface="Epilogue" pitchFamily="34" charset="-120"/>
              </a:rPr>
              <a:t>Review and update your personal information.</a:t>
            </a:r>
            <a:endParaRPr lang="en-US" sz="1850" dirty="0"/>
          </a:p>
        </p:txBody>
      </p:sp>
      <p:sp>
        <p:nvSpPr>
          <p:cNvPr id="45" name="Shape 13"/>
          <p:cNvSpPr/>
          <p:nvPr/>
        </p:nvSpPr>
        <p:spPr>
          <a:xfrm>
            <a:off x="8784558" y="4364533"/>
            <a:ext cx="528995" cy="490597"/>
          </a:xfrm>
          <a:prstGeom prst="roundRect">
            <a:avLst>
              <a:gd name="adj" fmla="val 18668"/>
            </a:avLst>
          </a:prstGeom>
          <a:solidFill>
            <a:srgbClr val="283157"/>
          </a:solidFill>
          <a:ln w="7620">
            <a:solidFill>
              <a:srgbClr val="414A70"/>
            </a:solidFill>
            <a:prstDash val="solid"/>
          </a:ln>
        </p:spPr>
        <p:txBody>
          <a:bodyPr/>
          <a:lstStyle/>
          <a:p>
            <a:endParaRPr lang="en-US" dirty="0"/>
          </a:p>
        </p:txBody>
      </p:sp>
      <p:sp>
        <p:nvSpPr>
          <p:cNvPr id="46" name="Text 14"/>
          <p:cNvSpPr/>
          <p:nvPr/>
        </p:nvSpPr>
        <p:spPr>
          <a:xfrm>
            <a:off x="8925222" y="4452640"/>
            <a:ext cx="215622" cy="35266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2750" smtClean="0">
                <a:solidFill>
                  <a:srgbClr val="EBECEF"/>
                </a:solidFill>
                <a:latin typeface="Fraunces Medium" pitchFamily="34" charset="0"/>
                <a:ea typeface="Fraunces Medium" pitchFamily="34" charset="-122"/>
                <a:cs typeface="Fraunces Medium" pitchFamily="34" charset="-120"/>
              </a:rPr>
              <a:t>4</a:t>
            </a:r>
            <a:endParaRPr lang="en-US" sz="2750" dirty="0"/>
          </a:p>
        </p:txBody>
      </p:sp>
      <p:sp>
        <p:nvSpPr>
          <p:cNvPr id="47" name="Text 15"/>
          <p:cNvSpPr/>
          <p:nvPr/>
        </p:nvSpPr>
        <p:spPr>
          <a:xfrm>
            <a:off x="9486262" y="4364533"/>
            <a:ext cx="2939058" cy="367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2300" dirty="0">
                <a:solidFill>
                  <a:srgbClr val="EBECEF"/>
                </a:solidFill>
                <a:latin typeface="Fraunces Medium" pitchFamily="34" charset="0"/>
                <a:ea typeface="Fraunces Medium" pitchFamily="34" charset="-122"/>
                <a:cs typeface="Fraunces Medium" pitchFamily="34" charset="-120"/>
              </a:rPr>
              <a:t>Change Password</a:t>
            </a:r>
            <a:endParaRPr lang="en-US" sz="2300" dirty="0"/>
          </a:p>
        </p:txBody>
      </p:sp>
      <p:sp>
        <p:nvSpPr>
          <p:cNvPr id="49" name="Text 8"/>
          <p:cNvSpPr/>
          <p:nvPr/>
        </p:nvSpPr>
        <p:spPr>
          <a:xfrm>
            <a:off x="9486262" y="3509427"/>
            <a:ext cx="5610701" cy="37623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950"/>
              </a:lnSpc>
              <a:buNone/>
            </a:pPr>
            <a:r>
              <a:rPr lang="en-US" sz="1850" dirty="0">
                <a:solidFill>
                  <a:srgbClr val="EBECEF"/>
                </a:solidFill>
                <a:latin typeface="Epilogue" pitchFamily="34" charset="0"/>
                <a:ea typeface="Epilogue" pitchFamily="34" charset="-122"/>
                <a:cs typeface="Epilogue" pitchFamily="34" charset="-120"/>
              </a:rPr>
              <a:t>Configure your services and set charges.</a:t>
            </a:r>
            <a:endParaRPr lang="en-US" sz="1850" dirty="0"/>
          </a:p>
        </p:txBody>
      </p:sp>
      <p:pic>
        <p:nvPicPr>
          <p:cNvPr id="52" name="Picture 51"/>
          <p:cNvPicPr>
            <a:picLocks noChangeAspect="1"/>
          </p:cNvPicPr>
          <p:nvPr/>
        </p:nvPicPr>
        <p:blipFill>
          <a:blip r:embed="rId3"/>
          <a:stretch>
            <a:fillRect/>
          </a:stretch>
        </p:blipFill>
        <p:spPr>
          <a:xfrm>
            <a:off x="9518116" y="4872930"/>
            <a:ext cx="4986960" cy="506012"/>
          </a:xfrm>
          <a:prstGeom prst="rect">
            <a:avLst/>
          </a:prstGeom>
        </p:spPr>
      </p:pic>
      <p:sp>
        <p:nvSpPr>
          <p:cNvPr id="58" name="Text 1"/>
          <p:cNvSpPr/>
          <p:nvPr/>
        </p:nvSpPr>
        <p:spPr>
          <a:xfrm>
            <a:off x="2968501" y="6392341"/>
            <a:ext cx="3086100" cy="38576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3000"/>
              </a:lnSpc>
              <a:buNone/>
            </a:pPr>
            <a:r>
              <a:rPr lang="en-US" sz="2400" dirty="0">
                <a:solidFill>
                  <a:srgbClr val="FFFFFF"/>
                </a:solidFill>
                <a:latin typeface="+mj-lt"/>
                <a:ea typeface="Fraunces Medium" pitchFamily="34" charset="-122"/>
                <a:cs typeface="Fraunces Medium" pitchFamily="34" charset="-120"/>
              </a:rPr>
              <a:t>View Requests</a:t>
            </a:r>
            <a:endParaRPr lang="en-US" sz="2400" dirty="0">
              <a:latin typeface="+mj-lt"/>
            </a:endParaRPr>
          </a:p>
        </p:txBody>
      </p:sp>
      <p:sp>
        <p:nvSpPr>
          <p:cNvPr id="5" name="TextBox 4"/>
          <p:cNvSpPr txBox="1"/>
          <p:nvPr/>
        </p:nvSpPr>
        <p:spPr>
          <a:xfrm>
            <a:off x="2838198" y="6749345"/>
            <a:ext cx="4880768" cy="449610"/>
          </a:xfrm>
          <a:prstGeom prst="rect">
            <a:avLst/>
          </a:prstGeom>
          <a:noFill/>
        </p:spPr>
        <p:txBody>
          <a:bodyPr wrap="square" rtlCol="0">
            <a:spAutoFit/>
          </a:bodyPr>
          <a:lstStyle/>
          <a:p>
            <a:pPr>
              <a:lnSpc>
                <a:spcPts val="3100"/>
              </a:lnSpc>
            </a:pPr>
            <a:r>
              <a:rPr lang="en-US" dirty="0">
                <a:solidFill>
                  <a:srgbClr val="EBECEF"/>
                </a:solidFill>
                <a:latin typeface="Epilogue" pitchFamily="34" charset="0"/>
                <a:ea typeface="Epilogue" pitchFamily="34" charset="-122"/>
                <a:cs typeface="Epilogue" pitchFamily="34" charset="-120"/>
              </a:rPr>
              <a:t> See </a:t>
            </a:r>
            <a:r>
              <a:rPr lang="en-US" dirty="0" smtClean="0">
                <a:solidFill>
                  <a:srgbClr val="EBECEF"/>
                </a:solidFill>
                <a:latin typeface="Epilogue" pitchFamily="34" charset="0"/>
                <a:ea typeface="Epilogue" pitchFamily="34" charset="-122"/>
                <a:cs typeface="Epilogue" pitchFamily="34" charset="-120"/>
              </a:rPr>
              <a:t>new requests </a:t>
            </a:r>
            <a:r>
              <a:rPr lang="en-US" dirty="0">
                <a:solidFill>
                  <a:srgbClr val="EBECEF"/>
                </a:solidFill>
                <a:latin typeface="Epilogue" pitchFamily="34" charset="0"/>
                <a:ea typeface="Epilogue" pitchFamily="34" charset="-122"/>
                <a:cs typeface="Epilogue" pitchFamily="34" charset="-120"/>
              </a:rPr>
              <a:t>from </a:t>
            </a:r>
            <a:r>
              <a:rPr lang="en-US" dirty="0" smtClean="0">
                <a:solidFill>
                  <a:srgbClr val="EBECEF"/>
                </a:solidFill>
                <a:latin typeface="Epilogue" pitchFamily="34" charset="0"/>
                <a:ea typeface="Epilogue" pitchFamily="34" charset="-122"/>
                <a:cs typeface="Epilogue" pitchFamily="34" charset="-120"/>
              </a:rPr>
              <a:t>users</a:t>
            </a:r>
            <a:r>
              <a:rPr lang="en-US" b="1" dirty="0" smtClean="0">
                <a:solidFill>
                  <a:srgbClr val="EBECEF"/>
                </a:solidFill>
                <a:latin typeface="Epilogue" pitchFamily="34" charset="0"/>
                <a:ea typeface="Epilogue" pitchFamily="34" charset="-122"/>
                <a:cs typeface="Epilogue" pitchFamily="34" charset="-120"/>
              </a:rPr>
              <a:t>.</a:t>
            </a:r>
            <a:r>
              <a:rPr lang="en-US" dirty="0" smtClean="0">
                <a:solidFill>
                  <a:srgbClr val="EBECEF"/>
                </a:solidFill>
                <a:latin typeface="Epilogue" pitchFamily="34" charset="0"/>
                <a:ea typeface="Epilogue" pitchFamily="34" charset="-122"/>
                <a:cs typeface="Epilogue" pitchFamily="34" charset="-120"/>
              </a:rPr>
              <a:t> </a:t>
            </a:r>
            <a:endParaRPr lang="en-US" b="1" dirty="0"/>
          </a:p>
        </p:txBody>
      </p:sp>
      <p:sp>
        <p:nvSpPr>
          <p:cNvPr id="33" name="Text 5"/>
          <p:cNvSpPr/>
          <p:nvPr/>
        </p:nvSpPr>
        <p:spPr>
          <a:xfrm>
            <a:off x="5365790" y="2656641"/>
            <a:ext cx="3086100" cy="38576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3000"/>
              </a:lnSpc>
              <a:buNone/>
            </a:pPr>
            <a:endParaRPr lang="en-US" sz="2400" dirty="0"/>
          </a:p>
        </p:txBody>
      </p:sp>
      <p:sp>
        <p:nvSpPr>
          <p:cNvPr id="50" name="Text 7"/>
          <p:cNvSpPr/>
          <p:nvPr/>
        </p:nvSpPr>
        <p:spPr>
          <a:xfrm>
            <a:off x="7173277" y="6392341"/>
            <a:ext cx="3503890" cy="3950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57300" lvl="2" indent="-342900">
              <a:lnSpc>
                <a:spcPts val="3100"/>
              </a:lnSpc>
              <a:buSzPct val="100000"/>
              <a:buFont typeface="+mj-lt"/>
              <a:buAutoNum type="arabicPeriod"/>
            </a:pPr>
            <a:endParaRPr lang="en-US" sz="1900" dirty="0"/>
          </a:p>
        </p:txBody>
      </p:sp>
      <p:sp>
        <p:nvSpPr>
          <p:cNvPr id="51" name="Text 8"/>
          <p:cNvSpPr/>
          <p:nvPr/>
        </p:nvSpPr>
        <p:spPr>
          <a:xfrm>
            <a:off x="5760721" y="4782860"/>
            <a:ext cx="3503890" cy="79009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100"/>
              </a:lnSpc>
              <a:buSzPct val="100000"/>
              <a:buFont typeface="+mj-lt"/>
              <a:buAutoNum type="arabicPeriod" startAt="2"/>
            </a:pPr>
            <a:endParaRPr lang="en-US" sz="1900" dirty="0"/>
          </a:p>
        </p:txBody>
      </p:sp>
      <p:sp>
        <p:nvSpPr>
          <p:cNvPr id="8" name="TextBox 7"/>
          <p:cNvSpPr txBox="1"/>
          <p:nvPr/>
        </p:nvSpPr>
        <p:spPr>
          <a:xfrm>
            <a:off x="9452355" y="6081909"/>
            <a:ext cx="3099467" cy="477054"/>
          </a:xfrm>
          <a:prstGeom prst="rect">
            <a:avLst/>
          </a:prstGeom>
          <a:noFill/>
        </p:spPr>
        <p:txBody>
          <a:bodyPr wrap="square" rtlCol="0">
            <a:spAutoFit/>
          </a:bodyPr>
          <a:lstStyle/>
          <a:p>
            <a:pPr>
              <a:lnSpc>
                <a:spcPts val="3000"/>
              </a:lnSpc>
            </a:pPr>
            <a:r>
              <a:rPr lang="en-US" sz="2400" dirty="0" smtClean="0">
                <a:solidFill>
                  <a:srgbClr val="FFFFFF"/>
                </a:solidFill>
                <a:latin typeface="+mj-lt"/>
                <a:ea typeface="Ebrima" panose="02000000000000000000" pitchFamily="2" charset="0"/>
                <a:cs typeface="Ebrima" panose="02000000000000000000" pitchFamily="2" charset="0"/>
              </a:rPr>
              <a:t>Feedback </a:t>
            </a:r>
            <a:r>
              <a:rPr lang="en-US" sz="2400" dirty="0">
                <a:solidFill>
                  <a:srgbClr val="FFFFFF"/>
                </a:solidFill>
                <a:latin typeface="+mj-lt"/>
                <a:ea typeface="Ebrima" panose="02000000000000000000" pitchFamily="2" charset="0"/>
                <a:cs typeface="Ebrima" panose="02000000000000000000" pitchFamily="2" charset="0"/>
              </a:rPr>
              <a:t>&amp; Support</a:t>
            </a:r>
            <a:endParaRPr lang="en-US" sz="2400" dirty="0">
              <a:latin typeface="+mj-lt"/>
              <a:ea typeface="Ebrima" panose="02000000000000000000" pitchFamily="2" charset="0"/>
              <a:cs typeface="Ebrima" panose="02000000000000000000" pitchFamily="2" charset="0"/>
            </a:endParaRPr>
          </a:p>
        </p:txBody>
      </p:sp>
      <p:sp>
        <p:nvSpPr>
          <p:cNvPr id="62" name="Text 8"/>
          <p:cNvSpPr/>
          <p:nvPr/>
        </p:nvSpPr>
        <p:spPr>
          <a:xfrm>
            <a:off x="5563255" y="3719751"/>
            <a:ext cx="3503890" cy="79009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71700" lvl="4" indent="-342900">
              <a:lnSpc>
                <a:spcPts val="3100"/>
              </a:lnSpc>
              <a:buSzPct val="100000"/>
              <a:buFont typeface="+mj-lt"/>
              <a:buAutoNum type="arabicPeriod" startAt="2"/>
            </a:pPr>
            <a:endParaRPr lang="en-US" sz="1900" dirty="0"/>
          </a:p>
        </p:txBody>
      </p:sp>
      <p:sp>
        <p:nvSpPr>
          <p:cNvPr id="19" name="Rectangle 18"/>
          <p:cNvSpPr/>
          <p:nvPr/>
        </p:nvSpPr>
        <p:spPr>
          <a:xfrm>
            <a:off x="8533506" y="7404429"/>
            <a:ext cx="5798767" cy="489878"/>
          </a:xfrm>
          <a:prstGeom prst="rect">
            <a:avLst/>
          </a:prstGeom>
        </p:spPr>
        <p:txBody>
          <a:bodyPr wrap="none">
            <a:spAutoFit/>
          </a:bodyPr>
          <a:lstStyle/>
          <a:p>
            <a:pPr marL="2171700" lvl="4" indent="-342900">
              <a:lnSpc>
                <a:spcPts val="3100"/>
              </a:lnSpc>
              <a:buSzPct val="100000"/>
              <a:buFont typeface="+mj-lt"/>
              <a:buAutoNum type="arabicPeriod" startAt="2"/>
            </a:pPr>
            <a:r>
              <a:rPr lang="en-US" sz="1900" dirty="0">
                <a:solidFill>
                  <a:srgbClr val="EBECEF"/>
                </a:solidFill>
                <a:latin typeface="Epilogue" pitchFamily="34" charset="0"/>
                <a:ea typeface="Epilogue" pitchFamily="34" charset="-122"/>
                <a:cs typeface="Epilogue" pitchFamily="34" charset="-120"/>
              </a:rPr>
              <a:t>View replies to your complaints.</a:t>
            </a:r>
            <a:endParaRPr lang="en-US" sz="1900" dirty="0"/>
          </a:p>
        </p:txBody>
      </p:sp>
      <p:sp>
        <p:nvSpPr>
          <p:cNvPr id="63" name="Text 6"/>
          <p:cNvSpPr/>
          <p:nvPr/>
        </p:nvSpPr>
        <p:spPr>
          <a:xfrm>
            <a:off x="9542426" y="6520133"/>
            <a:ext cx="3898821" cy="79009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3100"/>
              </a:lnSpc>
              <a:buNone/>
            </a:pPr>
            <a:r>
              <a:rPr lang="en-US" sz="1900" dirty="0">
                <a:solidFill>
                  <a:srgbClr val="EBECEF"/>
                </a:solidFill>
                <a:latin typeface="Epilogue" pitchFamily="34" charset="0"/>
                <a:ea typeface="Epilogue" pitchFamily="34" charset="-122"/>
                <a:cs typeface="Epilogue" pitchFamily="34" charset="-120"/>
              </a:rPr>
              <a:t>Access user reviews and feedback.</a:t>
            </a:r>
            <a:endParaRPr lang="en-US" sz="1900" dirty="0"/>
          </a:p>
        </p:txBody>
      </p:sp>
      <p:sp>
        <p:nvSpPr>
          <p:cNvPr id="20" name="Rectangle 19"/>
          <p:cNvSpPr/>
          <p:nvPr/>
        </p:nvSpPr>
        <p:spPr>
          <a:xfrm>
            <a:off x="10374720" y="6962281"/>
            <a:ext cx="2941831" cy="489878"/>
          </a:xfrm>
          <a:prstGeom prst="rect">
            <a:avLst/>
          </a:prstGeom>
        </p:spPr>
        <p:txBody>
          <a:bodyPr wrap="none">
            <a:spAutoFit/>
          </a:bodyPr>
          <a:lstStyle/>
          <a:p>
            <a:pPr marL="342900" indent="-342900">
              <a:lnSpc>
                <a:spcPts val="3100"/>
              </a:lnSpc>
              <a:buSzPct val="100000"/>
              <a:buFont typeface="+mj-lt"/>
              <a:buAutoNum type="arabicPeriod"/>
            </a:pPr>
            <a:r>
              <a:rPr lang="en-US" dirty="0">
                <a:solidFill>
                  <a:srgbClr val="EBECEF"/>
                </a:solidFill>
                <a:latin typeface="Epilogue" pitchFamily="34" charset="0"/>
                <a:ea typeface="Epilogue" pitchFamily="34" charset="-122"/>
                <a:cs typeface="Epilogue" pitchFamily="34" charset="-120"/>
              </a:rPr>
              <a:t>Respond to complaints.</a:t>
            </a:r>
            <a:endParaRPr lang="en-US" dirty="0"/>
          </a:p>
        </p:txBody>
      </p:sp>
      <p:sp>
        <p:nvSpPr>
          <p:cNvPr id="65" name="Shape 13"/>
          <p:cNvSpPr/>
          <p:nvPr/>
        </p:nvSpPr>
        <p:spPr>
          <a:xfrm>
            <a:off x="8782225" y="6065703"/>
            <a:ext cx="528995" cy="606196"/>
          </a:xfrm>
          <a:prstGeom prst="roundRect">
            <a:avLst>
              <a:gd name="adj" fmla="val 18668"/>
            </a:avLst>
          </a:prstGeom>
          <a:solidFill>
            <a:srgbClr val="283157"/>
          </a:solidFill>
          <a:ln w="7620">
            <a:solidFill>
              <a:srgbClr val="414A70"/>
            </a:solidFill>
            <a:prstDash val="solid"/>
          </a:ln>
        </p:spPr>
        <p:txBody>
          <a:bodyPr/>
          <a:lstStyle/>
          <a:p>
            <a:r>
              <a:rPr lang="en-US" sz="3200" dirty="0">
                <a:solidFill>
                  <a:schemeClr val="bg1"/>
                </a:solidFill>
              </a:rPr>
              <a:t>6</a:t>
            </a:r>
          </a:p>
        </p:txBody>
      </p:sp>
      <p:sp>
        <p:nvSpPr>
          <p:cNvPr id="24" name="TextBox 23"/>
          <p:cNvSpPr txBox="1"/>
          <p:nvPr/>
        </p:nvSpPr>
        <p:spPr>
          <a:xfrm>
            <a:off x="115376" y="2079815"/>
            <a:ext cx="4777371" cy="646331"/>
          </a:xfrm>
          <a:prstGeom prst="rect">
            <a:avLst/>
          </a:prstGeom>
          <a:noFill/>
        </p:spPr>
        <p:txBody>
          <a:bodyPr wrap="square" rtlCol="0">
            <a:spAutoFit/>
          </a:bodyPr>
          <a:lstStyle/>
          <a:p>
            <a:r>
              <a:rPr lang="en-US" sz="3600" u="sng" dirty="0" smtClean="0">
                <a:solidFill>
                  <a:schemeClr val="bg1"/>
                </a:solidFill>
                <a:latin typeface="+mj-lt"/>
              </a:rPr>
              <a:t>Account &amp; Services</a:t>
            </a:r>
            <a:endParaRPr lang="en-US" sz="3600" u="sng" dirty="0">
              <a:solidFill>
                <a:schemeClr val="bg1"/>
              </a:solidFill>
              <a:latin typeface="+mj-lt"/>
            </a:endParaRPr>
          </a:p>
        </p:txBody>
      </p:sp>
      <p:sp>
        <p:nvSpPr>
          <p:cNvPr id="25" name="TextBox 24"/>
          <p:cNvSpPr txBox="1"/>
          <p:nvPr/>
        </p:nvSpPr>
        <p:spPr>
          <a:xfrm flipH="1">
            <a:off x="115376" y="5378942"/>
            <a:ext cx="5163206" cy="646331"/>
          </a:xfrm>
          <a:prstGeom prst="rect">
            <a:avLst/>
          </a:prstGeom>
          <a:noFill/>
        </p:spPr>
        <p:txBody>
          <a:bodyPr wrap="square" rtlCol="0">
            <a:spAutoFit/>
          </a:bodyPr>
          <a:lstStyle/>
          <a:p>
            <a:r>
              <a:rPr lang="en-US" sz="3600" u="sng" dirty="0" smtClean="0">
                <a:solidFill>
                  <a:schemeClr val="bg1"/>
                </a:solidFill>
                <a:latin typeface="+mj-lt"/>
              </a:rPr>
              <a:t>Request &amp; Communication</a:t>
            </a:r>
            <a:endParaRPr lang="en-US" sz="3600" u="sng" dirty="0">
              <a:solidFill>
                <a:schemeClr val="bg1"/>
              </a:solidFill>
              <a:latin typeface="+mj-lt"/>
            </a:endParaRPr>
          </a:p>
        </p:txBody>
      </p:sp>
      <p:sp>
        <p:nvSpPr>
          <p:cNvPr id="66" name="Shape 9"/>
          <p:cNvSpPr/>
          <p:nvPr/>
        </p:nvSpPr>
        <p:spPr>
          <a:xfrm>
            <a:off x="2157872" y="6319178"/>
            <a:ext cx="528995" cy="528995"/>
          </a:xfrm>
          <a:prstGeom prst="roundRect">
            <a:avLst>
              <a:gd name="adj" fmla="val 18668"/>
            </a:avLst>
          </a:prstGeom>
          <a:solidFill>
            <a:srgbClr val="283157"/>
          </a:solidFill>
          <a:ln w="7620">
            <a:solidFill>
              <a:srgbClr val="414A70"/>
            </a:solidFill>
            <a:prstDash val="solid"/>
          </a:ln>
        </p:spPr>
        <p:txBody>
          <a:bodyPr/>
          <a:lstStyle/>
          <a:p>
            <a:pPr algn="ctr"/>
            <a:r>
              <a:rPr lang="en-US" sz="3200" dirty="0" smtClean="0">
                <a:solidFill>
                  <a:schemeClr val="bg1"/>
                </a:solidFill>
              </a:rPr>
              <a:t>5</a:t>
            </a:r>
            <a:endParaRPr lang="en-US" sz="3200" dirty="0">
              <a:solidFill>
                <a:schemeClr val="bg1"/>
              </a:solidFill>
            </a:endParaRPr>
          </a:p>
        </p:txBody>
      </p:sp>
    </p:spTree>
    <p:extLst>
      <p:ext uri="{BB962C8B-B14F-4D97-AF65-F5344CB8AC3E}">
        <p14:creationId xmlns:p14="http://schemas.microsoft.com/office/powerpoint/2010/main" val="2077074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1470" y="237053"/>
            <a:ext cx="4873336" cy="707886"/>
          </a:xfrm>
          <a:prstGeom prst="rect">
            <a:avLst/>
          </a:prstGeom>
          <a:noFill/>
        </p:spPr>
        <p:txBody>
          <a:bodyPr wrap="square" rtlCol="0">
            <a:spAutoFit/>
          </a:bodyPr>
          <a:lstStyle/>
          <a:p>
            <a:r>
              <a:rPr lang="en-US" sz="4000" dirty="0" smtClean="0">
                <a:solidFill>
                  <a:schemeClr val="bg1"/>
                </a:solidFill>
                <a:latin typeface="+mj-lt"/>
              </a:rPr>
              <a:t>Database Tables</a:t>
            </a:r>
            <a:endParaRPr lang="en-US" sz="4000" dirty="0">
              <a:solidFill>
                <a:schemeClr val="bg1"/>
              </a:solidFill>
              <a:latin typeface="+mj-lt"/>
            </a:endParaRPr>
          </a:p>
        </p:txBody>
      </p:sp>
      <p:sp>
        <p:nvSpPr>
          <p:cNvPr id="4" name="TextBox 3"/>
          <p:cNvSpPr txBox="1"/>
          <p:nvPr/>
        </p:nvSpPr>
        <p:spPr>
          <a:xfrm>
            <a:off x="41564" y="1406604"/>
            <a:ext cx="2726574" cy="461665"/>
          </a:xfrm>
          <a:prstGeom prst="rect">
            <a:avLst/>
          </a:prstGeom>
          <a:noFill/>
        </p:spPr>
        <p:txBody>
          <a:bodyPr wrap="square" rtlCol="0">
            <a:spAutoFit/>
          </a:bodyPr>
          <a:lstStyle/>
          <a:p>
            <a:r>
              <a:rPr lang="en-US" sz="2400" u="sng" dirty="0" smtClean="0">
                <a:solidFill>
                  <a:schemeClr val="bg1"/>
                </a:solidFill>
                <a:latin typeface="+mj-lt"/>
              </a:rPr>
              <a:t>Table Structure</a:t>
            </a:r>
            <a:endParaRPr lang="en-US" sz="2400" u="sng" dirty="0">
              <a:solidFill>
                <a:schemeClr val="bg1"/>
              </a:solidFill>
              <a:latin typeface="+mj-lt"/>
            </a:endParaRPr>
          </a:p>
        </p:txBody>
      </p:sp>
      <p:sp>
        <p:nvSpPr>
          <p:cNvPr id="5" name="TextBox 4"/>
          <p:cNvSpPr txBox="1"/>
          <p:nvPr/>
        </p:nvSpPr>
        <p:spPr>
          <a:xfrm>
            <a:off x="41564" y="1868269"/>
            <a:ext cx="1995055" cy="400110"/>
          </a:xfrm>
          <a:prstGeom prst="rect">
            <a:avLst/>
          </a:prstGeom>
          <a:noFill/>
        </p:spPr>
        <p:txBody>
          <a:bodyPr wrap="square" rtlCol="0">
            <a:spAutoFit/>
          </a:bodyPr>
          <a:lstStyle/>
          <a:p>
            <a:r>
              <a:rPr lang="en-US" sz="2000" dirty="0" smtClean="0">
                <a:solidFill>
                  <a:schemeClr val="bg1"/>
                </a:solidFill>
              </a:rPr>
              <a:t>Table 1: Login</a:t>
            </a:r>
            <a:endParaRPr lang="en-US" sz="2000" dirty="0">
              <a:solidFill>
                <a:schemeClr val="bg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020595146"/>
              </p:ext>
            </p:extLst>
          </p:nvPr>
        </p:nvGraphicFramePr>
        <p:xfrm>
          <a:off x="0" y="2329934"/>
          <a:ext cx="14630400" cy="1928321"/>
        </p:xfrm>
        <a:graphic>
          <a:graphicData uri="http://schemas.openxmlformats.org/drawingml/2006/table">
            <a:tbl>
              <a:tblPr firstRow="1" bandRow="1">
                <a:tableStyleId>{F5AB1C69-6EDB-4FF4-983F-18BD219EF322}</a:tableStyleId>
              </a:tblPr>
              <a:tblGrid>
                <a:gridCol w="7315200">
                  <a:extLst>
                    <a:ext uri="{9D8B030D-6E8A-4147-A177-3AD203B41FA5}">
                      <a16:colId xmlns:a16="http://schemas.microsoft.com/office/drawing/2014/main" val="3436045687"/>
                    </a:ext>
                  </a:extLst>
                </a:gridCol>
                <a:gridCol w="7315200">
                  <a:extLst>
                    <a:ext uri="{9D8B030D-6E8A-4147-A177-3AD203B41FA5}">
                      <a16:colId xmlns:a16="http://schemas.microsoft.com/office/drawing/2014/main" val="1875547227"/>
                    </a:ext>
                  </a:extLst>
                </a:gridCol>
              </a:tblGrid>
              <a:tr h="370840">
                <a:tc>
                  <a:txBody>
                    <a:bodyPr/>
                    <a:lstStyle/>
                    <a:p>
                      <a:pPr algn="l"/>
                      <a:r>
                        <a:rPr lang="en-US" baseline="0" dirty="0" smtClean="0"/>
                        <a:t> </a:t>
                      </a:r>
                      <a:r>
                        <a:rPr lang="en-US" baseline="0" dirty="0" smtClean="0">
                          <a:solidFill>
                            <a:schemeClr val="tx1"/>
                          </a:solidFill>
                        </a:rPr>
                        <a:t>Field Name</a:t>
                      </a:r>
                      <a:endParaRPr lang="en-US" dirty="0">
                        <a:solidFill>
                          <a:schemeClr val="tx1"/>
                        </a:solidFill>
                      </a:endParaRPr>
                    </a:p>
                  </a:txBody>
                  <a:tcPr/>
                </a:tc>
                <a:tc>
                  <a:txBody>
                    <a:bodyPr/>
                    <a:lstStyle/>
                    <a:p>
                      <a:pPr algn="l"/>
                      <a:r>
                        <a:rPr lang="en-US" dirty="0" smtClean="0">
                          <a:solidFill>
                            <a:schemeClr val="tx1"/>
                          </a:solidFill>
                        </a:rPr>
                        <a:t>Data</a:t>
                      </a:r>
                      <a:r>
                        <a:rPr lang="en-US" baseline="0" dirty="0" smtClean="0">
                          <a:solidFill>
                            <a:schemeClr val="tx1"/>
                          </a:solidFill>
                        </a:rPr>
                        <a:t> Type</a:t>
                      </a:r>
                      <a:endParaRPr lang="en-US" dirty="0">
                        <a:solidFill>
                          <a:schemeClr val="tx1"/>
                        </a:solidFill>
                      </a:endParaRPr>
                    </a:p>
                  </a:txBody>
                  <a:tcPr/>
                </a:tc>
                <a:extLst>
                  <a:ext uri="{0D108BD9-81ED-4DB2-BD59-A6C34878D82A}">
                    <a16:rowId xmlns:a16="http://schemas.microsoft.com/office/drawing/2014/main" val="3278412051"/>
                  </a:ext>
                </a:extLst>
              </a:tr>
              <a:tr h="370840">
                <a:tc>
                  <a:txBody>
                    <a:bodyPr/>
                    <a:lstStyle/>
                    <a:p>
                      <a:r>
                        <a:rPr lang="en-US" dirty="0" err="1" smtClean="0"/>
                        <a:t>Login_id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1960316722"/>
                  </a:ext>
                </a:extLst>
              </a:tr>
              <a:tr h="370840">
                <a:tc>
                  <a:txBody>
                    <a:bodyPr/>
                    <a:lstStyle/>
                    <a:p>
                      <a:r>
                        <a:rPr lang="en-US" dirty="0" smtClean="0"/>
                        <a:t>Username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517661386"/>
                  </a:ext>
                </a:extLst>
              </a:tr>
              <a:tr h="444961">
                <a:tc>
                  <a:txBody>
                    <a:bodyPr/>
                    <a:lstStyle/>
                    <a:p>
                      <a:r>
                        <a:rPr lang="en-US" dirty="0" smtClean="0"/>
                        <a:t>Password</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2849150068"/>
                  </a:ext>
                </a:extLst>
              </a:tr>
              <a:tr h="370840">
                <a:tc>
                  <a:txBody>
                    <a:bodyPr/>
                    <a:lstStyle/>
                    <a:p>
                      <a:r>
                        <a:rPr lang="en-US" dirty="0" err="1" smtClean="0"/>
                        <a:t>Usertype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4258337279"/>
                  </a:ext>
                </a:extLst>
              </a:tr>
            </a:tbl>
          </a:graphicData>
        </a:graphic>
      </p:graphicFrame>
      <p:sp>
        <p:nvSpPr>
          <p:cNvPr id="8" name="TextBox 7"/>
          <p:cNvSpPr txBox="1"/>
          <p:nvPr/>
        </p:nvSpPr>
        <p:spPr>
          <a:xfrm>
            <a:off x="41564" y="4319810"/>
            <a:ext cx="2078182" cy="369332"/>
          </a:xfrm>
          <a:prstGeom prst="rect">
            <a:avLst/>
          </a:prstGeom>
          <a:noFill/>
        </p:spPr>
        <p:txBody>
          <a:bodyPr wrap="square" rtlCol="0">
            <a:spAutoFit/>
          </a:bodyPr>
          <a:lstStyle/>
          <a:p>
            <a:r>
              <a:rPr lang="en-US" dirty="0">
                <a:solidFill>
                  <a:schemeClr val="bg1"/>
                </a:solidFill>
              </a:rPr>
              <a:t>Table </a:t>
            </a:r>
            <a:r>
              <a:rPr lang="en-US" dirty="0" smtClean="0">
                <a:solidFill>
                  <a:schemeClr val="bg1"/>
                </a:solidFill>
              </a:rPr>
              <a:t>2: shop </a:t>
            </a:r>
            <a:endParaRPr lang="en-US" dirty="0">
              <a:solidFill>
                <a:schemeClr val="bg1"/>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833908137"/>
              </p:ext>
            </p:extLst>
          </p:nvPr>
        </p:nvGraphicFramePr>
        <p:xfrm>
          <a:off x="0" y="4750695"/>
          <a:ext cx="14630400" cy="3478904"/>
        </p:xfrm>
        <a:graphic>
          <a:graphicData uri="http://schemas.openxmlformats.org/drawingml/2006/table">
            <a:tbl>
              <a:tblPr firstRow="1" bandRow="1">
                <a:tableStyleId>{F5AB1C69-6EDB-4FF4-983F-18BD219EF322}</a:tableStyleId>
              </a:tblPr>
              <a:tblGrid>
                <a:gridCol w="7315200">
                  <a:extLst>
                    <a:ext uri="{9D8B030D-6E8A-4147-A177-3AD203B41FA5}">
                      <a16:colId xmlns:a16="http://schemas.microsoft.com/office/drawing/2014/main" val="4074975429"/>
                    </a:ext>
                  </a:extLst>
                </a:gridCol>
                <a:gridCol w="7315200">
                  <a:extLst>
                    <a:ext uri="{9D8B030D-6E8A-4147-A177-3AD203B41FA5}">
                      <a16:colId xmlns:a16="http://schemas.microsoft.com/office/drawing/2014/main" val="108411487"/>
                    </a:ext>
                  </a:extLst>
                </a:gridCol>
              </a:tblGrid>
              <a:tr h="434863">
                <a:tc>
                  <a:txBody>
                    <a:bodyPr/>
                    <a:lstStyle/>
                    <a:p>
                      <a:r>
                        <a:rPr lang="en-US" dirty="0" smtClean="0">
                          <a:solidFill>
                            <a:schemeClr val="tx1"/>
                          </a:solidFill>
                        </a:rPr>
                        <a:t>Field</a:t>
                      </a:r>
                      <a:r>
                        <a:rPr lang="en-US" baseline="0" dirty="0" smtClean="0">
                          <a:solidFill>
                            <a:schemeClr val="tx1"/>
                          </a:solidFill>
                        </a:rPr>
                        <a:t> Name</a:t>
                      </a:r>
                      <a:endParaRPr lang="en-US" dirty="0">
                        <a:solidFill>
                          <a:schemeClr val="tx1"/>
                        </a:solidFill>
                      </a:endParaRPr>
                    </a:p>
                  </a:txBody>
                  <a:tcPr/>
                </a:tc>
                <a:tc>
                  <a:txBody>
                    <a:bodyPr/>
                    <a:lstStyle/>
                    <a:p>
                      <a:r>
                        <a:rPr lang="en-US" dirty="0" smtClean="0">
                          <a:solidFill>
                            <a:schemeClr val="tx1"/>
                          </a:solidFill>
                        </a:rPr>
                        <a:t>Data</a:t>
                      </a:r>
                      <a:r>
                        <a:rPr lang="en-US" baseline="0" dirty="0" smtClean="0">
                          <a:solidFill>
                            <a:schemeClr val="tx1"/>
                          </a:solidFill>
                        </a:rPr>
                        <a:t> Type</a:t>
                      </a:r>
                      <a:endParaRPr lang="en-US" dirty="0">
                        <a:solidFill>
                          <a:schemeClr val="tx1"/>
                        </a:solidFill>
                      </a:endParaRPr>
                    </a:p>
                  </a:txBody>
                  <a:tcPr/>
                </a:tc>
                <a:extLst>
                  <a:ext uri="{0D108BD9-81ED-4DB2-BD59-A6C34878D82A}">
                    <a16:rowId xmlns:a16="http://schemas.microsoft.com/office/drawing/2014/main" val="3045535204"/>
                  </a:ext>
                </a:extLst>
              </a:tr>
              <a:tr h="434863">
                <a:tc>
                  <a:txBody>
                    <a:bodyPr/>
                    <a:lstStyle/>
                    <a:p>
                      <a:r>
                        <a:rPr lang="en-US" dirty="0" err="1" smtClean="0"/>
                        <a:t>Shop_id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2439402112"/>
                  </a:ext>
                </a:extLst>
              </a:tr>
              <a:tr h="434863">
                <a:tc>
                  <a:txBody>
                    <a:bodyPr/>
                    <a:lstStyle/>
                    <a:p>
                      <a:r>
                        <a:rPr lang="en-US" dirty="0" err="1" smtClean="0"/>
                        <a:t>Login_id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995439441"/>
                  </a:ext>
                </a:extLst>
              </a:tr>
              <a:tr h="434863">
                <a:tc>
                  <a:txBody>
                    <a:bodyPr/>
                    <a:lstStyle/>
                    <a:p>
                      <a:r>
                        <a:rPr lang="en-US" dirty="0" err="1" smtClean="0"/>
                        <a:t>Shop_name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2590942016"/>
                  </a:ext>
                </a:extLst>
              </a:tr>
              <a:tr h="434863">
                <a:tc>
                  <a:txBody>
                    <a:bodyPr/>
                    <a:lstStyle/>
                    <a:p>
                      <a:r>
                        <a:rPr lang="en-US" dirty="0" smtClean="0"/>
                        <a:t>Place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4014742549"/>
                  </a:ext>
                </a:extLst>
              </a:tr>
              <a:tr h="434863">
                <a:tc>
                  <a:txBody>
                    <a:bodyPr/>
                    <a:lstStyle/>
                    <a:p>
                      <a:r>
                        <a:rPr lang="en-US" dirty="0" smtClean="0"/>
                        <a:t>Pin</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1556471282"/>
                  </a:ext>
                </a:extLst>
              </a:tr>
              <a:tr h="434863">
                <a:tc>
                  <a:txBody>
                    <a:bodyPr/>
                    <a:lstStyle/>
                    <a:p>
                      <a:r>
                        <a:rPr lang="en-US" dirty="0" smtClean="0"/>
                        <a:t>Type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3373646811"/>
                  </a:ext>
                </a:extLst>
              </a:tr>
              <a:tr h="434863">
                <a:tc>
                  <a:txBody>
                    <a:bodyPr/>
                    <a:lstStyle/>
                    <a:p>
                      <a:endParaRPr lang="en-US"/>
                    </a:p>
                  </a:txBody>
                  <a:tcPr/>
                </a:tc>
                <a:tc>
                  <a:txBody>
                    <a:bodyPr/>
                    <a:lstStyle/>
                    <a:p>
                      <a:endParaRPr lang="en-US" dirty="0"/>
                    </a:p>
                  </a:txBody>
                  <a:tcPr/>
                </a:tc>
                <a:extLst>
                  <a:ext uri="{0D108BD9-81ED-4DB2-BD59-A6C34878D82A}">
                    <a16:rowId xmlns:a16="http://schemas.microsoft.com/office/drawing/2014/main" val="422850571"/>
                  </a:ext>
                </a:extLst>
              </a:tr>
            </a:tbl>
          </a:graphicData>
        </a:graphic>
      </p:graphicFrame>
    </p:spTree>
    <p:extLst>
      <p:ext uri="{BB962C8B-B14F-4D97-AF65-F5344CB8AC3E}">
        <p14:creationId xmlns:p14="http://schemas.microsoft.com/office/powerpoint/2010/main" val="854050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241" y="201231"/>
            <a:ext cx="1397755" cy="369332"/>
          </a:xfrm>
          <a:prstGeom prst="rect">
            <a:avLst/>
          </a:prstGeom>
        </p:spPr>
        <p:txBody>
          <a:bodyPr wrap="none">
            <a:spAutoFit/>
          </a:bodyPr>
          <a:lstStyle/>
          <a:p>
            <a:r>
              <a:rPr lang="en-US" dirty="0">
                <a:solidFill>
                  <a:schemeClr val="bg1"/>
                </a:solidFill>
              </a:rPr>
              <a:t>Table </a:t>
            </a:r>
            <a:r>
              <a:rPr lang="en-US" dirty="0" smtClean="0">
                <a:solidFill>
                  <a:schemeClr val="bg1"/>
                </a:solidFill>
              </a:rPr>
              <a:t>3: User</a:t>
            </a:r>
            <a:endParaRPr lang="en-US"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153568935"/>
              </p:ext>
            </p:extLst>
          </p:nvPr>
        </p:nvGraphicFramePr>
        <p:xfrm>
          <a:off x="0" y="570565"/>
          <a:ext cx="14630400" cy="3115427"/>
        </p:xfrm>
        <a:graphic>
          <a:graphicData uri="http://schemas.openxmlformats.org/drawingml/2006/table">
            <a:tbl>
              <a:tblPr firstRow="1" bandRow="1">
                <a:tableStyleId>{F5AB1C69-6EDB-4FF4-983F-18BD219EF322}</a:tableStyleId>
              </a:tblPr>
              <a:tblGrid>
                <a:gridCol w="7315200">
                  <a:extLst>
                    <a:ext uri="{9D8B030D-6E8A-4147-A177-3AD203B41FA5}">
                      <a16:colId xmlns:a16="http://schemas.microsoft.com/office/drawing/2014/main" val="306408975"/>
                    </a:ext>
                  </a:extLst>
                </a:gridCol>
                <a:gridCol w="7315200">
                  <a:extLst>
                    <a:ext uri="{9D8B030D-6E8A-4147-A177-3AD203B41FA5}">
                      <a16:colId xmlns:a16="http://schemas.microsoft.com/office/drawing/2014/main" val="3593228073"/>
                    </a:ext>
                  </a:extLst>
                </a:gridCol>
              </a:tblGrid>
              <a:tr h="445061">
                <a:tc>
                  <a:txBody>
                    <a:bodyPr/>
                    <a:lstStyle/>
                    <a:p>
                      <a:r>
                        <a:rPr lang="en-US" dirty="0" smtClean="0">
                          <a:solidFill>
                            <a:schemeClr val="tx1"/>
                          </a:solidFill>
                        </a:rPr>
                        <a:t>Field Name</a:t>
                      </a:r>
                      <a:endParaRPr lang="en-US" dirty="0">
                        <a:solidFill>
                          <a:schemeClr val="tx1"/>
                        </a:solidFill>
                      </a:endParaRPr>
                    </a:p>
                  </a:txBody>
                  <a:tcPr/>
                </a:tc>
                <a:tc>
                  <a:txBody>
                    <a:bodyPr/>
                    <a:lstStyle/>
                    <a:p>
                      <a:r>
                        <a:rPr lang="en-US" dirty="0" smtClean="0">
                          <a:solidFill>
                            <a:schemeClr val="tx1"/>
                          </a:solidFill>
                        </a:rPr>
                        <a:t>Data</a:t>
                      </a:r>
                      <a:r>
                        <a:rPr lang="en-US" baseline="0" dirty="0" smtClean="0">
                          <a:solidFill>
                            <a:schemeClr val="tx1"/>
                          </a:solidFill>
                        </a:rPr>
                        <a:t> Type</a:t>
                      </a:r>
                      <a:endParaRPr lang="en-US" dirty="0">
                        <a:solidFill>
                          <a:schemeClr val="tx1"/>
                        </a:solidFill>
                      </a:endParaRPr>
                    </a:p>
                  </a:txBody>
                  <a:tcPr/>
                </a:tc>
                <a:extLst>
                  <a:ext uri="{0D108BD9-81ED-4DB2-BD59-A6C34878D82A}">
                    <a16:rowId xmlns:a16="http://schemas.microsoft.com/office/drawing/2014/main" val="4002485714"/>
                  </a:ext>
                </a:extLst>
              </a:tr>
              <a:tr h="445061">
                <a:tc>
                  <a:txBody>
                    <a:bodyPr/>
                    <a:lstStyle/>
                    <a:p>
                      <a:r>
                        <a:rPr lang="en-US" dirty="0" err="1" smtClean="0"/>
                        <a:t>User_id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3699433478"/>
                  </a:ext>
                </a:extLst>
              </a:tr>
              <a:tr h="445061">
                <a:tc>
                  <a:txBody>
                    <a:bodyPr/>
                    <a:lstStyle/>
                    <a:p>
                      <a:r>
                        <a:rPr lang="en-US" dirty="0" err="1" smtClean="0"/>
                        <a:t>Login_id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3284068564"/>
                  </a:ext>
                </a:extLst>
              </a:tr>
              <a:tr h="445061">
                <a:tc>
                  <a:txBody>
                    <a:bodyPr/>
                    <a:lstStyle/>
                    <a:p>
                      <a:r>
                        <a:rPr lang="en-US" dirty="0" err="1" smtClean="0"/>
                        <a:t>First_name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4197505087"/>
                  </a:ext>
                </a:extLst>
              </a:tr>
              <a:tr h="445061">
                <a:tc>
                  <a:txBody>
                    <a:bodyPr/>
                    <a:lstStyle/>
                    <a:p>
                      <a:r>
                        <a:rPr lang="en-US" dirty="0" err="1" smtClean="0"/>
                        <a:t>Last_name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2117509465"/>
                  </a:ext>
                </a:extLst>
              </a:tr>
              <a:tr h="445061">
                <a:tc>
                  <a:txBody>
                    <a:bodyPr/>
                    <a:lstStyle/>
                    <a:p>
                      <a:r>
                        <a:rPr lang="en-US" dirty="0" smtClean="0"/>
                        <a:t>Place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4284920559"/>
                  </a:ext>
                </a:extLst>
              </a:tr>
              <a:tr h="445061">
                <a:tc>
                  <a:txBody>
                    <a:bodyPr/>
                    <a:lstStyle/>
                    <a:p>
                      <a:r>
                        <a:rPr lang="en-US" dirty="0" smtClean="0"/>
                        <a:t>Phone</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1068263376"/>
                  </a:ext>
                </a:extLst>
              </a:tr>
            </a:tbl>
          </a:graphicData>
        </a:graphic>
      </p:graphicFrame>
      <p:sp>
        <p:nvSpPr>
          <p:cNvPr id="4" name="Rectangle 3"/>
          <p:cNvSpPr/>
          <p:nvPr/>
        </p:nvSpPr>
        <p:spPr>
          <a:xfrm>
            <a:off x="0" y="3819636"/>
            <a:ext cx="1622239" cy="369332"/>
          </a:xfrm>
          <a:prstGeom prst="rect">
            <a:avLst/>
          </a:prstGeom>
        </p:spPr>
        <p:txBody>
          <a:bodyPr wrap="none">
            <a:spAutoFit/>
          </a:bodyPr>
          <a:lstStyle/>
          <a:p>
            <a:r>
              <a:rPr lang="en-US" dirty="0">
                <a:solidFill>
                  <a:schemeClr val="bg1"/>
                </a:solidFill>
              </a:rPr>
              <a:t>Table </a:t>
            </a:r>
            <a:r>
              <a:rPr lang="en-US" dirty="0" smtClean="0">
                <a:solidFill>
                  <a:schemeClr val="bg1"/>
                </a:solidFill>
              </a:rPr>
              <a:t>4: worker</a:t>
            </a:r>
            <a:endParaRPr lang="en-US" dirty="0">
              <a:solidFill>
                <a:schemeClr val="bg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942547952"/>
              </p:ext>
            </p:extLst>
          </p:nvPr>
        </p:nvGraphicFramePr>
        <p:xfrm>
          <a:off x="0" y="4322614"/>
          <a:ext cx="14630400" cy="3293920"/>
        </p:xfrm>
        <a:graphic>
          <a:graphicData uri="http://schemas.openxmlformats.org/drawingml/2006/table">
            <a:tbl>
              <a:tblPr firstRow="1" bandRow="1">
                <a:tableStyleId>{F5AB1C69-6EDB-4FF4-983F-18BD219EF322}</a:tableStyleId>
              </a:tblPr>
              <a:tblGrid>
                <a:gridCol w="7268140">
                  <a:extLst>
                    <a:ext uri="{9D8B030D-6E8A-4147-A177-3AD203B41FA5}">
                      <a16:colId xmlns:a16="http://schemas.microsoft.com/office/drawing/2014/main" val="3673410061"/>
                    </a:ext>
                  </a:extLst>
                </a:gridCol>
                <a:gridCol w="7362260">
                  <a:extLst>
                    <a:ext uri="{9D8B030D-6E8A-4147-A177-3AD203B41FA5}">
                      <a16:colId xmlns:a16="http://schemas.microsoft.com/office/drawing/2014/main" val="1489479531"/>
                    </a:ext>
                  </a:extLst>
                </a:gridCol>
              </a:tblGrid>
              <a:tr h="411740">
                <a:tc>
                  <a:txBody>
                    <a:bodyPr/>
                    <a:lstStyle/>
                    <a:p>
                      <a:r>
                        <a:rPr lang="en-US" dirty="0" smtClean="0">
                          <a:solidFill>
                            <a:schemeClr val="tx1"/>
                          </a:solidFill>
                        </a:rPr>
                        <a:t>Field</a:t>
                      </a:r>
                      <a:r>
                        <a:rPr lang="en-US" baseline="0" dirty="0" smtClean="0">
                          <a:solidFill>
                            <a:schemeClr val="tx1"/>
                          </a:solidFill>
                        </a:rPr>
                        <a:t> Name</a:t>
                      </a:r>
                      <a:endParaRPr lang="en-US" dirty="0">
                        <a:solidFill>
                          <a:schemeClr val="tx1"/>
                        </a:solidFill>
                      </a:endParaRPr>
                    </a:p>
                  </a:txBody>
                  <a:tcPr/>
                </a:tc>
                <a:tc>
                  <a:txBody>
                    <a:bodyPr/>
                    <a:lstStyle/>
                    <a:p>
                      <a:r>
                        <a:rPr lang="en-US" dirty="0" smtClean="0">
                          <a:solidFill>
                            <a:schemeClr val="tx1"/>
                          </a:solidFill>
                        </a:rPr>
                        <a:t>Data Type</a:t>
                      </a:r>
                      <a:endParaRPr lang="en-US" dirty="0">
                        <a:solidFill>
                          <a:schemeClr val="tx1"/>
                        </a:solidFill>
                      </a:endParaRPr>
                    </a:p>
                  </a:txBody>
                  <a:tcPr/>
                </a:tc>
                <a:extLst>
                  <a:ext uri="{0D108BD9-81ED-4DB2-BD59-A6C34878D82A}">
                    <a16:rowId xmlns:a16="http://schemas.microsoft.com/office/drawing/2014/main" val="2898681172"/>
                  </a:ext>
                </a:extLst>
              </a:tr>
              <a:tr h="411740">
                <a:tc>
                  <a:txBody>
                    <a:bodyPr/>
                    <a:lstStyle/>
                    <a:p>
                      <a:r>
                        <a:rPr lang="en-US" dirty="0" err="1" smtClean="0"/>
                        <a:t>Worker_id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4101083673"/>
                  </a:ext>
                </a:extLst>
              </a:tr>
              <a:tr h="411740">
                <a:tc>
                  <a:txBody>
                    <a:bodyPr/>
                    <a:lstStyle/>
                    <a:p>
                      <a:r>
                        <a:rPr lang="en-US" dirty="0" err="1" smtClean="0"/>
                        <a:t>Login_id</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3475507554"/>
                  </a:ext>
                </a:extLst>
              </a:tr>
              <a:tr h="411740">
                <a:tc>
                  <a:txBody>
                    <a:bodyPr/>
                    <a:lstStyle/>
                    <a:p>
                      <a:r>
                        <a:rPr lang="en-US" dirty="0" err="1" smtClean="0"/>
                        <a:t>First_name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1746644990"/>
                  </a:ext>
                </a:extLst>
              </a:tr>
              <a:tr h="411740">
                <a:tc>
                  <a:txBody>
                    <a:bodyPr/>
                    <a:lstStyle/>
                    <a:p>
                      <a:r>
                        <a:rPr lang="en-US" dirty="0" err="1" smtClean="0"/>
                        <a:t>Last_name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1757973367"/>
                  </a:ext>
                </a:extLst>
              </a:tr>
              <a:tr h="411740">
                <a:tc>
                  <a:txBody>
                    <a:bodyPr/>
                    <a:lstStyle/>
                    <a:p>
                      <a:r>
                        <a:rPr lang="en-US" dirty="0" smtClean="0"/>
                        <a:t>Place</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2329437152"/>
                  </a:ext>
                </a:extLst>
              </a:tr>
              <a:tr h="411740">
                <a:tc>
                  <a:txBody>
                    <a:bodyPr/>
                    <a:lstStyle/>
                    <a:p>
                      <a:r>
                        <a:rPr lang="en-US" dirty="0" smtClean="0"/>
                        <a:t>Work</a:t>
                      </a:r>
                      <a:endParaRPr lang="en-US" dirty="0"/>
                    </a:p>
                  </a:txBody>
                  <a:tcPr/>
                </a:tc>
                <a:tc>
                  <a:txBody>
                    <a:bodyPr/>
                    <a:lstStyle/>
                    <a:p>
                      <a:r>
                        <a:rPr lang="en-US" dirty="0" smtClean="0"/>
                        <a:t>varchar</a:t>
                      </a:r>
                      <a:endParaRPr lang="en-US" dirty="0"/>
                    </a:p>
                  </a:txBody>
                  <a:tcPr/>
                </a:tc>
                <a:extLst>
                  <a:ext uri="{0D108BD9-81ED-4DB2-BD59-A6C34878D82A}">
                    <a16:rowId xmlns:a16="http://schemas.microsoft.com/office/drawing/2014/main" val="2548401934"/>
                  </a:ext>
                </a:extLst>
              </a:tr>
              <a:tr h="411740">
                <a:tc>
                  <a:txBody>
                    <a:bodyPr/>
                    <a:lstStyle/>
                    <a:p>
                      <a:r>
                        <a:rPr lang="en-US" dirty="0" smtClean="0"/>
                        <a:t>Phone</a:t>
                      </a:r>
                      <a:endParaRPr lang="en-US" dirty="0"/>
                    </a:p>
                  </a:txBody>
                  <a:tcPr/>
                </a:tc>
                <a:tc>
                  <a:txBody>
                    <a:bodyPr/>
                    <a:lstStyle/>
                    <a:p>
                      <a:r>
                        <a:rPr lang="en-US" dirty="0" err="1" smtClean="0"/>
                        <a:t>int</a:t>
                      </a:r>
                      <a:endParaRPr lang="en-US" dirty="0"/>
                    </a:p>
                  </a:txBody>
                  <a:tcPr/>
                </a:tc>
                <a:extLst>
                  <a:ext uri="{0D108BD9-81ED-4DB2-BD59-A6C34878D82A}">
                    <a16:rowId xmlns:a16="http://schemas.microsoft.com/office/drawing/2014/main" val="451087898"/>
                  </a:ext>
                </a:extLst>
              </a:tr>
            </a:tbl>
          </a:graphicData>
        </a:graphic>
      </p:graphicFrame>
      <p:sp>
        <p:nvSpPr>
          <p:cNvPr id="7" name="TextBox 6"/>
          <p:cNvSpPr txBox="1"/>
          <p:nvPr/>
        </p:nvSpPr>
        <p:spPr>
          <a:xfrm>
            <a:off x="0" y="7616534"/>
            <a:ext cx="14578445" cy="646331"/>
          </a:xfrm>
          <a:prstGeom prst="rect">
            <a:avLst/>
          </a:prstGeom>
          <a:noFill/>
        </p:spPr>
        <p:txBody>
          <a:bodyPr wrap="square" rtlCol="0">
            <a:spAutoFit/>
          </a:bodyPr>
          <a:lstStyle/>
          <a:p>
            <a:r>
              <a:rPr lang="en-US" dirty="0" smtClean="0">
                <a:solidFill>
                  <a:schemeClr val="bg1"/>
                </a:solidFill>
              </a:rPr>
              <a:t>There are more tables in this project that are: order_master,order_details,order_payment,product,review_product,review_worker,service,</a:t>
            </a:r>
          </a:p>
          <a:p>
            <a:r>
              <a:rPr lang="en-US" dirty="0" err="1" smtClean="0">
                <a:solidFill>
                  <a:schemeClr val="bg1"/>
                </a:solidFill>
              </a:rPr>
              <a:t>request,and</a:t>
            </a:r>
            <a:r>
              <a:rPr lang="en-US" dirty="0" smtClean="0">
                <a:solidFill>
                  <a:schemeClr val="bg1"/>
                </a:solidFill>
              </a:rPr>
              <a:t> </a:t>
            </a:r>
            <a:r>
              <a:rPr lang="en-US" dirty="0" err="1" smtClean="0">
                <a:solidFill>
                  <a:schemeClr val="bg1"/>
                </a:solidFill>
              </a:rPr>
              <a:t>request_payment</a:t>
            </a:r>
            <a:r>
              <a:rPr lang="en-US" dirty="0">
                <a:solidFill>
                  <a:schemeClr val="bg1"/>
                </a:solidFill>
              </a:rPr>
              <a:t>.</a:t>
            </a:r>
            <a:endParaRPr lang="en-US" dirty="0"/>
          </a:p>
        </p:txBody>
      </p:sp>
    </p:spTree>
    <p:extLst>
      <p:ext uri="{BB962C8B-B14F-4D97-AF65-F5344CB8AC3E}">
        <p14:creationId xmlns:p14="http://schemas.microsoft.com/office/powerpoint/2010/main" val="1339624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8764" y="384464"/>
            <a:ext cx="5559136" cy="646331"/>
          </a:xfrm>
          <a:prstGeom prst="rect">
            <a:avLst/>
          </a:prstGeom>
          <a:noFill/>
        </p:spPr>
        <p:txBody>
          <a:bodyPr wrap="square" rtlCol="0">
            <a:spAutoFit/>
          </a:bodyPr>
          <a:lstStyle/>
          <a:p>
            <a:r>
              <a:rPr lang="en-US" sz="3600" dirty="0" smtClean="0">
                <a:solidFill>
                  <a:schemeClr val="bg1"/>
                </a:solidFill>
                <a:latin typeface="+mj-lt"/>
              </a:rPr>
              <a:t>Tools &amp; Technology</a:t>
            </a:r>
            <a:endParaRPr lang="en-US" sz="3600" dirty="0">
              <a:solidFill>
                <a:schemeClr val="bg1"/>
              </a:solidFill>
              <a:latin typeface="+mj-lt"/>
            </a:endParaRPr>
          </a:p>
        </p:txBody>
      </p:sp>
      <p:sp>
        <p:nvSpPr>
          <p:cNvPr id="4" name="TextBox 3"/>
          <p:cNvSpPr txBox="1"/>
          <p:nvPr/>
        </p:nvSpPr>
        <p:spPr>
          <a:xfrm>
            <a:off x="207818" y="1600200"/>
            <a:ext cx="13632873" cy="707886"/>
          </a:xfrm>
          <a:prstGeom prst="rect">
            <a:avLst/>
          </a:prstGeom>
          <a:noFill/>
        </p:spPr>
        <p:txBody>
          <a:bodyPr wrap="square" rtlCol="0">
            <a:spAutoFit/>
          </a:bodyPr>
          <a:lstStyle/>
          <a:p>
            <a:r>
              <a:rPr lang="en-US" sz="2000" dirty="0" smtClean="0">
                <a:solidFill>
                  <a:schemeClr val="bg1"/>
                </a:solidFill>
                <a:latin typeface="+mj-lt"/>
              </a:rPr>
              <a:t>For the </a:t>
            </a:r>
            <a:r>
              <a:rPr lang="en-US" sz="2000" i="1" dirty="0" smtClean="0">
                <a:solidFill>
                  <a:schemeClr val="bg1"/>
                </a:solidFill>
                <a:latin typeface="+mj-lt"/>
              </a:rPr>
              <a:t>“Connect </a:t>
            </a:r>
            <a:r>
              <a:rPr lang="en-US" sz="2000" i="1" dirty="0">
                <a:solidFill>
                  <a:schemeClr val="bg1"/>
                </a:solidFill>
                <a:latin typeface="+mj-lt"/>
              </a:rPr>
              <a:t>M</a:t>
            </a:r>
            <a:r>
              <a:rPr lang="en-US" sz="2000" i="1" dirty="0" smtClean="0">
                <a:solidFill>
                  <a:schemeClr val="bg1"/>
                </a:solidFill>
                <a:latin typeface="+mj-lt"/>
              </a:rPr>
              <a:t>e” </a:t>
            </a:r>
            <a:r>
              <a:rPr lang="en-US" sz="2000" dirty="0" smtClean="0">
                <a:solidFill>
                  <a:schemeClr val="bg1"/>
                </a:solidFill>
                <a:latin typeface="+mj-lt"/>
              </a:rPr>
              <a:t>project, the following tools and technologies can be utilized to ensure smooth development, operation, and scalability.</a:t>
            </a:r>
            <a:r>
              <a:rPr lang="en-US" sz="2000" i="1" dirty="0" smtClean="0">
                <a:solidFill>
                  <a:schemeClr val="bg1"/>
                </a:solidFill>
                <a:latin typeface="+mj-lt"/>
              </a:rPr>
              <a:t> </a:t>
            </a:r>
            <a:endParaRPr lang="en-US" sz="2000" i="1" dirty="0">
              <a:solidFill>
                <a:schemeClr val="bg1"/>
              </a:solidFill>
              <a:latin typeface="+mj-lt"/>
            </a:endParaRPr>
          </a:p>
        </p:txBody>
      </p:sp>
      <p:sp>
        <p:nvSpPr>
          <p:cNvPr id="5" name="Round Diagonal Corner Rectangle 4"/>
          <p:cNvSpPr/>
          <p:nvPr/>
        </p:nvSpPr>
        <p:spPr>
          <a:xfrm>
            <a:off x="1131222" y="2689720"/>
            <a:ext cx="2847109" cy="3221183"/>
          </a:xfrm>
          <a:prstGeom prst="round2Diag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 Diagonal Corner Rectangle 5"/>
          <p:cNvSpPr/>
          <p:nvPr/>
        </p:nvSpPr>
        <p:spPr>
          <a:xfrm>
            <a:off x="5600699" y="2691242"/>
            <a:ext cx="2847109" cy="3221183"/>
          </a:xfrm>
          <a:prstGeom prst="round2Diag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Diagonal Corner Rectangle 6"/>
          <p:cNvSpPr/>
          <p:nvPr/>
        </p:nvSpPr>
        <p:spPr>
          <a:xfrm>
            <a:off x="10543307" y="2689721"/>
            <a:ext cx="2847109" cy="3221183"/>
          </a:xfrm>
          <a:prstGeom prst="round2Diag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u="sng" dirty="0">
              <a:solidFill>
                <a:schemeClr val="accent1">
                  <a:lumMod val="50000"/>
                </a:schemeClr>
              </a:solidFill>
            </a:endParaRPr>
          </a:p>
        </p:txBody>
      </p:sp>
      <p:sp>
        <p:nvSpPr>
          <p:cNvPr id="8" name="Rounded Rectangle 7"/>
          <p:cNvSpPr/>
          <p:nvPr/>
        </p:nvSpPr>
        <p:spPr>
          <a:xfrm>
            <a:off x="417741" y="6354585"/>
            <a:ext cx="13695218" cy="126769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flipH="1">
            <a:off x="1569029" y="2860325"/>
            <a:ext cx="2088571" cy="338554"/>
          </a:xfrm>
          <a:prstGeom prst="rect">
            <a:avLst/>
          </a:prstGeom>
          <a:noFill/>
        </p:spPr>
        <p:txBody>
          <a:bodyPr wrap="square" rtlCol="0">
            <a:spAutoFit/>
          </a:bodyPr>
          <a:lstStyle/>
          <a:p>
            <a:pPr algn="ctr"/>
            <a:r>
              <a:rPr lang="en-US" sz="1600" u="sng" dirty="0" smtClean="0">
                <a:solidFill>
                  <a:schemeClr val="accent1">
                    <a:lumMod val="50000"/>
                  </a:schemeClr>
                </a:solidFill>
                <a:latin typeface="+mj-lt"/>
              </a:rPr>
              <a:t>Front-end</a:t>
            </a:r>
            <a:endParaRPr lang="en-US" sz="1600" u="sng" dirty="0">
              <a:solidFill>
                <a:schemeClr val="accent1">
                  <a:lumMod val="50000"/>
                </a:schemeClr>
              </a:solidFill>
              <a:latin typeface="+mj-lt"/>
            </a:endParaRPr>
          </a:p>
        </p:txBody>
      </p:sp>
      <p:sp>
        <p:nvSpPr>
          <p:cNvPr id="11" name="TextBox 10"/>
          <p:cNvSpPr txBox="1"/>
          <p:nvPr/>
        </p:nvSpPr>
        <p:spPr>
          <a:xfrm flipH="1">
            <a:off x="6449635" y="2883338"/>
            <a:ext cx="1149235" cy="338554"/>
          </a:xfrm>
          <a:prstGeom prst="rect">
            <a:avLst/>
          </a:prstGeom>
          <a:noFill/>
        </p:spPr>
        <p:txBody>
          <a:bodyPr wrap="square" rtlCol="0">
            <a:spAutoFit/>
          </a:bodyPr>
          <a:lstStyle/>
          <a:p>
            <a:r>
              <a:rPr lang="en-US" sz="1600" u="sng" dirty="0" smtClean="0">
                <a:solidFill>
                  <a:schemeClr val="accent1">
                    <a:lumMod val="50000"/>
                  </a:schemeClr>
                </a:solidFill>
                <a:latin typeface="+mj-lt"/>
              </a:rPr>
              <a:t>Back-end</a:t>
            </a:r>
            <a:endParaRPr lang="en-US" sz="1600" u="sng" dirty="0">
              <a:solidFill>
                <a:schemeClr val="accent1">
                  <a:lumMod val="50000"/>
                </a:schemeClr>
              </a:solidFill>
              <a:latin typeface="+mj-lt"/>
            </a:endParaRPr>
          </a:p>
        </p:txBody>
      </p:sp>
      <p:sp>
        <p:nvSpPr>
          <p:cNvPr id="12" name="TextBox 11"/>
          <p:cNvSpPr txBox="1"/>
          <p:nvPr/>
        </p:nvSpPr>
        <p:spPr>
          <a:xfrm>
            <a:off x="11346873" y="2883338"/>
            <a:ext cx="1465118" cy="338554"/>
          </a:xfrm>
          <a:prstGeom prst="rect">
            <a:avLst/>
          </a:prstGeom>
          <a:noFill/>
        </p:spPr>
        <p:txBody>
          <a:bodyPr wrap="square" rtlCol="0">
            <a:spAutoFit/>
          </a:bodyPr>
          <a:lstStyle/>
          <a:p>
            <a:pPr algn="ctr"/>
            <a:r>
              <a:rPr lang="en-US" sz="1600" u="sng" dirty="0" smtClean="0">
                <a:solidFill>
                  <a:schemeClr val="accent1">
                    <a:lumMod val="50000"/>
                  </a:schemeClr>
                </a:solidFill>
              </a:rPr>
              <a:t>Data Base</a:t>
            </a:r>
            <a:endParaRPr lang="en-US" sz="1600" u="sng" dirty="0">
              <a:solidFill>
                <a:schemeClr val="accent1">
                  <a:lumMod val="50000"/>
                </a:schemeClr>
              </a:solidFill>
            </a:endParaRPr>
          </a:p>
        </p:txBody>
      </p:sp>
      <p:sp>
        <p:nvSpPr>
          <p:cNvPr id="14" name="TextBox 13"/>
          <p:cNvSpPr txBox="1"/>
          <p:nvPr/>
        </p:nvSpPr>
        <p:spPr>
          <a:xfrm flipH="1">
            <a:off x="773082" y="6473537"/>
            <a:ext cx="2084418" cy="338554"/>
          </a:xfrm>
          <a:prstGeom prst="rect">
            <a:avLst/>
          </a:prstGeom>
          <a:noFill/>
        </p:spPr>
        <p:txBody>
          <a:bodyPr wrap="square" rtlCol="0">
            <a:spAutoFit/>
          </a:bodyPr>
          <a:lstStyle/>
          <a:p>
            <a:r>
              <a:rPr lang="en-US" sz="1600" u="sng" dirty="0" smtClean="0">
                <a:solidFill>
                  <a:schemeClr val="accent1">
                    <a:lumMod val="50000"/>
                  </a:schemeClr>
                </a:solidFill>
                <a:latin typeface="+mj-lt"/>
              </a:rPr>
              <a:t>Software Used</a:t>
            </a:r>
            <a:endParaRPr lang="en-US" sz="1600" u="sng" dirty="0">
              <a:solidFill>
                <a:schemeClr val="accent1">
                  <a:lumMod val="50000"/>
                </a:schemeClr>
              </a:solidFill>
              <a:latin typeface="+mj-lt"/>
            </a:endParaRPr>
          </a:p>
        </p:txBody>
      </p:sp>
      <p:sp>
        <p:nvSpPr>
          <p:cNvPr id="3" name="TextBox 2"/>
          <p:cNvSpPr txBox="1"/>
          <p:nvPr/>
        </p:nvSpPr>
        <p:spPr>
          <a:xfrm>
            <a:off x="1891145" y="3458762"/>
            <a:ext cx="1387187" cy="1323439"/>
          </a:xfrm>
          <a:prstGeom prst="rect">
            <a:avLst/>
          </a:prstGeom>
          <a:noFill/>
        </p:spPr>
        <p:txBody>
          <a:bodyPr wrap="square" rtlCol="0">
            <a:spAutoFit/>
          </a:bodyPr>
          <a:lstStyle/>
          <a:p>
            <a:r>
              <a:rPr lang="en-US" sz="1600" dirty="0" smtClean="0">
                <a:solidFill>
                  <a:schemeClr val="accent1">
                    <a:lumMod val="50000"/>
                  </a:schemeClr>
                </a:solidFill>
              </a:rPr>
              <a:t>Html</a:t>
            </a:r>
          </a:p>
          <a:p>
            <a:endParaRPr lang="en-US" sz="1600" dirty="0" smtClean="0">
              <a:solidFill>
                <a:schemeClr val="accent1">
                  <a:lumMod val="50000"/>
                </a:schemeClr>
              </a:solidFill>
            </a:endParaRPr>
          </a:p>
          <a:p>
            <a:r>
              <a:rPr lang="en-US" sz="1600" dirty="0" err="1" smtClean="0">
                <a:solidFill>
                  <a:schemeClr val="accent1">
                    <a:lumMod val="50000"/>
                  </a:schemeClr>
                </a:solidFill>
              </a:rPr>
              <a:t>Css</a:t>
            </a:r>
            <a:endParaRPr lang="en-US" sz="1600" dirty="0" smtClean="0">
              <a:solidFill>
                <a:schemeClr val="accent1">
                  <a:lumMod val="50000"/>
                </a:schemeClr>
              </a:solidFill>
            </a:endParaRPr>
          </a:p>
          <a:p>
            <a:endParaRPr lang="en-US" sz="1600" dirty="0" smtClean="0">
              <a:solidFill>
                <a:schemeClr val="accent1">
                  <a:lumMod val="50000"/>
                </a:schemeClr>
              </a:solidFill>
            </a:endParaRPr>
          </a:p>
          <a:p>
            <a:r>
              <a:rPr lang="en-US" sz="1600" dirty="0" err="1">
                <a:solidFill>
                  <a:schemeClr val="accent1">
                    <a:lumMod val="50000"/>
                  </a:schemeClr>
                </a:solidFill>
              </a:rPr>
              <a:t>J</a:t>
            </a:r>
            <a:r>
              <a:rPr lang="en-US" sz="1600" dirty="0" err="1" smtClean="0">
                <a:solidFill>
                  <a:schemeClr val="accent1">
                    <a:lumMod val="50000"/>
                  </a:schemeClr>
                </a:solidFill>
              </a:rPr>
              <a:t>avascript</a:t>
            </a:r>
            <a:endParaRPr lang="en-US" sz="1600" dirty="0">
              <a:solidFill>
                <a:schemeClr val="accent1">
                  <a:lumMod val="50000"/>
                </a:schemeClr>
              </a:solidFill>
            </a:endParaRPr>
          </a:p>
        </p:txBody>
      </p:sp>
      <p:sp>
        <p:nvSpPr>
          <p:cNvPr id="13" name="TextBox 12"/>
          <p:cNvSpPr txBox="1"/>
          <p:nvPr/>
        </p:nvSpPr>
        <p:spPr>
          <a:xfrm>
            <a:off x="6528260" y="3472085"/>
            <a:ext cx="1465118" cy="830997"/>
          </a:xfrm>
          <a:prstGeom prst="rect">
            <a:avLst/>
          </a:prstGeom>
          <a:noFill/>
        </p:spPr>
        <p:txBody>
          <a:bodyPr wrap="square" rtlCol="0">
            <a:spAutoFit/>
          </a:bodyPr>
          <a:lstStyle/>
          <a:p>
            <a:r>
              <a:rPr lang="en-US" sz="1600" dirty="0" smtClean="0">
                <a:solidFill>
                  <a:schemeClr val="accent1">
                    <a:lumMod val="50000"/>
                  </a:schemeClr>
                </a:solidFill>
              </a:rPr>
              <a:t>Python</a:t>
            </a:r>
          </a:p>
          <a:p>
            <a:endParaRPr lang="en-US" sz="1600" dirty="0" smtClean="0">
              <a:solidFill>
                <a:schemeClr val="accent1">
                  <a:lumMod val="50000"/>
                </a:schemeClr>
              </a:solidFill>
            </a:endParaRPr>
          </a:p>
          <a:p>
            <a:r>
              <a:rPr lang="en-US" sz="1600" dirty="0" smtClean="0">
                <a:solidFill>
                  <a:schemeClr val="accent1">
                    <a:lumMod val="50000"/>
                  </a:schemeClr>
                </a:solidFill>
              </a:rPr>
              <a:t>Android</a:t>
            </a:r>
            <a:endParaRPr lang="en-US" sz="1600" dirty="0">
              <a:solidFill>
                <a:schemeClr val="accent1">
                  <a:lumMod val="50000"/>
                </a:schemeClr>
              </a:solidFill>
            </a:endParaRPr>
          </a:p>
        </p:txBody>
      </p:sp>
      <p:sp>
        <p:nvSpPr>
          <p:cNvPr id="15" name="TextBox 14"/>
          <p:cNvSpPr txBox="1"/>
          <p:nvPr/>
        </p:nvSpPr>
        <p:spPr>
          <a:xfrm>
            <a:off x="11632558" y="3699877"/>
            <a:ext cx="2025568" cy="338554"/>
          </a:xfrm>
          <a:prstGeom prst="rect">
            <a:avLst/>
          </a:prstGeom>
          <a:noFill/>
        </p:spPr>
        <p:txBody>
          <a:bodyPr wrap="square" rtlCol="0">
            <a:spAutoFit/>
          </a:bodyPr>
          <a:lstStyle/>
          <a:p>
            <a:r>
              <a:rPr lang="en-US" sz="1600" dirty="0" err="1" smtClean="0">
                <a:solidFill>
                  <a:schemeClr val="accent1">
                    <a:lumMod val="50000"/>
                  </a:schemeClr>
                </a:solidFill>
              </a:rPr>
              <a:t>Mysql</a:t>
            </a:r>
            <a:endParaRPr lang="en-US" sz="1600" dirty="0">
              <a:solidFill>
                <a:schemeClr val="accent1">
                  <a:lumMod val="50000"/>
                </a:schemeClr>
              </a:solidFill>
            </a:endParaRPr>
          </a:p>
        </p:txBody>
      </p:sp>
      <p:sp>
        <p:nvSpPr>
          <p:cNvPr id="16" name="TextBox 15"/>
          <p:cNvSpPr txBox="1"/>
          <p:nvPr/>
        </p:nvSpPr>
        <p:spPr>
          <a:xfrm>
            <a:off x="779529" y="6909712"/>
            <a:ext cx="2341183" cy="335666"/>
          </a:xfrm>
          <a:prstGeom prst="rect">
            <a:avLst/>
          </a:prstGeom>
          <a:noFill/>
        </p:spPr>
        <p:txBody>
          <a:bodyPr wrap="square" rtlCol="0">
            <a:spAutoFit/>
          </a:bodyPr>
          <a:lstStyle/>
          <a:p>
            <a:r>
              <a:rPr lang="en-US" sz="1600" dirty="0" err="1" smtClean="0">
                <a:solidFill>
                  <a:schemeClr val="accent1">
                    <a:lumMod val="50000"/>
                  </a:schemeClr>
                </a:solidFill>
              </a:rPr>
              <a:t>Visyal</a:t>
            </a:r>
            <a:r>
              <a:rPr lang="en-US" sz="1600" dirty="0" smtClean="0">
                <a:solidFill>
                  <a:schemeClr val="accent1">
                    <a:lumMod val="50000"/>
                  </a:schemeClr>
                </a:solidFill>
              </a:rPr>
              <a:t> Studio Code</a:t>
            </a:r>
            <a:endParaRPr lang="en-US" sz="1600" dirty="0">
              <a:solidFill>
                <a:schemeClr val="accent1">
                  <a:lumMod val="50000"/>
                </a:schemeClr>
              </a:solidFill>
            </a:endParaRPr>
          </a:p>
        </p:txBody>
      </p:sp>
    </p:spTree>
    <p:extLst>
      <p:ext uri="{BB962C8B-B14F-4D97-AF65-F5344CB8AC3E}">
        <p14:creationId xmlns:p14="http://schemas.microsoft.com/office/powerpoint/2010/main" val="954871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1109" y="311727"/>
            <a:ext cx="4010891" cy="646331"/>
          </a:xfrm>
          <a:prstGeom prst="rect">
            <a:avLst/>
          </a:prstGeom>
          <a:noFill/>
        </p:spPr>
        <p:txBody>
          <a:bodyPr wrap="square" rtlCol="0">
            <a:spAutoFit/>
          </a:bodyPr>
          <a:lstStyle/>
          <a:p>
            <a:r>
              <a:rPr lang="en-US" sz="3600" dirty="0" smtClean="0">
                <a:solidFill>
                  <a:schemeClr val="bg1"/>
                </a:solidFill>
                <a:latin typeface="+mj-lt"/>
              </a:rPr>
              <a:t>Data Flow Diagram</a:t>
            </a:r>
            <a:endParaRPr lang="en-US" sz="3600" dirty="0">
              <a:solidFill>
                <a:schemeClr val="bg1"/>
              </a:solidFill>
              <a:latin typeface="+mj-lt"/>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810" t="27614" r="5703" b="4034"/>
          <a:stretch/>
        </p:blipFill>
        <p:spPr>
          <a:xfrm>
            <a:off x="0" y="1070264"/>
            <a:ext cx="14630400" cy="7159336"/>
          </a:xfrm>
          <a:prstGeom prst="rect">
            <a:avLst/>
          </a:prstGeom>
          <a:ln>
            <a:noFill/>
          </a:ln>
          <a:effectLst>
            <a:softEdge rad="112500"/>
          </a:effectLst>
        </p:spPr>
      </p:pic>
    </p:spTree>
    <p:extLst>
      <p:ext uri="{BB962C8B-B14F-4D97-AF65-F5344CB8AC3E}">
        <p14:creationId xmlns:p14="http://schemas.microsoft.com/office/powerpoint/2010/main" val="2069653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165" t="17631" r="24381" b="3627"/>
          <a:stretch/>
        </p:blipFill>
        <p:spPr>
          <a:xfrm>
            <a:off x="83127" y="83127"/>
            <a:ext cx="14474537" cy="8042564"/>
          </a:xfrm>
          <a:prstGeom prst="rect">
            <a:avLst/>
          </a:prstGeom>
          <a:ln>
            <a:noFill/>
          </a:ln>
          <a:effectLst>
            <a:softEdge rad="112500"/>
          </a:effectLst>
        </p:spPr>
      </p:pic>
    </p:spTree>
    <p:extLst>
      <p:ext uri="{BB962C8B-B14F-4D97-AF65-F5344CB8AC3E}">
        <p14:creationId xmlns:p14="http://schemas.microsoft.com/office/powerpoint/2010/main" val="2799423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5578" t="873" r="30062" b="1560"/>
          <a:stretch/>
        </p:blipFill>
        <p:spPr>
          <a:xfrm>
            <a:off x="114300" y="124691"/>
            <a:ext cx="14360236" cy="7959435"/>
          </a:xfrm>
          <a:prstGeom prst="rect">
            <a:avLst/>
          </a:prstGeom>
          <a:ln>
            <a:noFill/>
          </a:ln>
          <a:effectLst>
            <a:softEdge rad="112500"/>
          </a:effectLst>
        </p:spPr>
      </p:pic>
    </p:spTree>
    <p:extLst>
      <p:ext uri="{BB962C8B-B14F-4D97-AF65-F5344CB8AC3E}">
        <p14:creationId xmlns:p14="http://schemas.microsoft.com/office/powerpoint/2010/main" val="2518915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5062" t="2250" r="24276"/>
          <a:stretch/>
        </p:blipFill>
        <p:spPr>
          <a:xfrm>
            <a:off x="114300" y="83127"/>
            <a:ext cx="14412191" cy="8052955"/>
          </a:xfrm>
          <a:prstGeom prst="rect">
            <a:avLst/>
          </a:prstGeom>
          <a:ln>
            <a:noFill/>
          </a:ln>
          <a:effectLst>
            <a:softEdge rad="112500"/>
          </a:effectLst>
        </p:spPr>
      </p:pic>
    </p:spTree>
    <p:extLst>
      <p:ext uri="{BB962C8B-B14F-4D97-AF65-F5344CB8AC3E}">
        <p14:creationId xmlns:p14="http://schemas.microsoft.com/office/powerpoint/2010/main" val="3271920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5269" t="5234" r="30269"/>
          <a:stretch/>
        </p:blipFill>
        <p:spPr>
          <a:xfrm>
            <a:off x="114300" y="103909"/>
            <a:ext cx="14370627" cy="8011391"/>
          </a:xfrm>
          <a:prstGeom prst="rect">
            <a:avLst/>
          </a:prstGeom>
          <a:ln>
            <a:noFill/>
          </a:ln>
          <a:effectLst>
            <a:softEdge rad="112500"/>
          </a:effectLst>
        </p:spPr>
      </p:pic>
    </p:spTree>
    <p:extLst>
      <p:ext uri="{BB962C8B-B14F-4D97-AF65-F5344CB8AC3E}">
        <p14:creationId xmlns:p14="http://schemas.microsoft.com/office/powerpoint/2010/main" val="4116293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flipH="1">
            <a:off x="637998" y="394855"/>
            <a:ext cx="4017128" cy="646331"/>
          </a:xfrm>
          <a:prstGeom prst="rect">
            <a:avLst/>
          </a:prstGeom>
          <a:noFill/>
        </p:spPr>
        <p:txBody>
          <a:bodyPr wrap="square" rtlCol="0">
            <a:spAutoFit/>
          </a:bodyPr>
          <a:lstStyle/>
          <a:p>
            <a:r>
              <a:rPr lang="en-US" sz="3600" dirty="0" smtClean="0">
                <a:solidFill>
                  <a:schemeClr val="bg1"/>
                </a:solidFill>
                <a:latin typeface="+mj-lt"/>
              </a:rPr>
              <a:t>ER Diagram</a:t>
            </a:r>
            <a:endParaRPr lang="en-US" sz="3600" dirty="0">
              <a:solidFill>
                <a:schemeClr val="bg1"/>
              </a:solidFill>
              <a:latin typeface="+mj-lt"/>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1797" t="16024" r="17045"/>
          <a:stretch/>
        </p:blipFill>
        <p:spPr>
          <a:xfrm>
            <a:off x="0" y="1205345"/>
            <a:ext cx="14557664" cy="6941128"/>
          </a:xfrm>
          <a:prstGeom prst="rect">
            <a:avLst/>
          </a:prstGeom>
          <a:ln>
            <a:noFill/>
          </a:ln>
          <a:effectLst>
            <a:softEdge rad="112500"/>
          </a:effectLst>
        </p:spPr>
      </p:pic>
    </p:spTree>
    <p:extLst>
      <p:ext uri="{BB962C8B-B14F-4D97-AF65-F5344CB8AC3E}">
        <p14:creationId xmlns:p14="http://schemas.microsoft.com/office/powerpoint/2010/main" val="1218072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8815" y="2176041"/>
            <a:ext cx="13912770" cy="1569660"/>
          </a:xfrm>
          <a:prstGeom prst="rect">
            <a:avLst/>
          </a:prstGeom>
          <a:noFill/>
        </p:spPr>
        <p:txBody>
          <a:bodyPr wrap="square" rtlCol="0">
            <a:spAutoFit/>
          </a:bodyPr>
          <a:lstStyle/>
          <a:p>
            <a:r>
              <a:rPr lang="en-US" sz="2400" dirty="0" smtClean="0">
                <a:solidFill>
                  <a:schemeClr val="bg1"/>
                </a:solidFill>
                <a:latin typeface="+mj-lt"/>
              </a:rPr>
              <a:t>As we look to the future “</a:t>
            </a:r>
            <a:r>
              <a:rPr lang="en-US" sz="2400" i="1" dirty="0" smtClean="0">
                <a:solidFill>
                  <a:schemeClr val="bg1"/>
                </a:solidFill>
                <a:latin typeface="+mj-lt"/>
              </a:rPr>
              <a:t>Connect Me</a:t>
            </a:r>
            <a:r>
              <a:rPr lang="en-US" sz="2400" dirty="0" smtClean="0">
                <a:solidFill>
                  <a:schemeClr val="bg1"/>
                </a:solidFill>
                <a:latin typeface="+mj-lt"/>
              </a:rPr>
              <a:t>” revolutionizes the way you access essential services and products, empowering you to live a more connected and convenient life.</a:t>
            </a:r>
          </a:p>
          <a:p>
            <a:r>
              <a:rPr lang="en-US" sz="2400" dirty="0" smtClean="0">
                <a:solidFill>
                  <a:schemeClr val="bg1"/>
                </a:solidFill>
                <a:latin typeface="+mj-lt"/>
              </a:rPr>
              <a:t>Connect Me empowers you to effortlessly navigate you in daily life, all from the palm of your hand.</a:t>
            </a:r>
          </a:p>
          <a:p>
            <a:endParaRPr lang="en-US" sz="2400" dirty="0">
              <a:solidFill>
                <a:schemeClr val="bg1"/>
              </a:solidFill>
            </a:endParaRPr>
          </a:p>
        </p:txBody>
      </p:sp>
      <p:sp>
        <p:nvSpPr>
          <p:cNvPr id="4" name="TextBox 3"/>
          <p:cNvSpPr txBox="1"/>
          <p:nvPr/>
        </p:nvSpPr>
        <p:spPr>
          <a:xfrm>
            <a:off x="682906" y="567158"/>
            <a:ext cx="5000263" cy="769441"/>
          </a:xfrm>
          <a:prstGeom prst="rect">
            <a:avLst/>
          </a:prstGeom>
          <a:noFill/>
        </p:spPr>
        <p:txBody>
          <a:bodyPr wrap="square" rtlCol="0">
            <a:spAutoFit/>
          </a:bodyPr>
          <a:lstStyle/>
          <a:p>
            <a:r>
              <a:rPr lang="en-US" sz="4400" b="1" dirty="0" smtClean="0">
                <a:solidFill>
                  <a:schemeClr val="bg1"/>
                </a:solidFill>
                <a:latin typeface="+mj-lt"/>
              </a:rPr>
              <a:t>Conclusion</a:t>
            </a:r>
            <a:endParaRPr lang="en-US" sz="4400" b="1" dirty="0">
              <a:solidFill>
                <a:schemeClr val="bg1"/>
              </a:solidFill>
              <a:latin typeface="+mj-lt"/>
            </a:endParaRPr>
          </a:p>
        </p:txBody>
      </p:sp>
    </p:spTree>
    <p:extLst>
      <p:ext uri="{BB962C8B-B14F-4D97-AF65-F5344CB8AC3E}">
        <p14:creationId xmlns:p14="http://schemas.microsoft.com/office/powerpoint/2010/main" val="1637259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728625" y="474562"/>
            <a:ext cx="5452256" cy="769441"/>
          </a:xfrm>
          <a:prstGeom prst="rect">
            <a:avLst/>
          </a:prstGeom>
          <a:noFill/>
        </p:spPr>
        <p:txBody>
          <a:bodyPr wrap="square" rtlCol="0">
            <a:spAutoFit/>
          </a:bodyPr>
          <a:lstStyle/>
          <a:p>
            <a:r>
              <a:rPr lang="en-US" sz="4400" b="1" dirty="0" smtClean="0">
                <a:solidFill>
                  <a:schemeClr val="bg1"/>
                </a:solidFill>
                <a:latin typeface="+mj-lt"/>
              </a:rPr>
              <a:t>Future Enhancement</a:t>
            </a:r>
            <a:endParaRPr lang="en-US" sz="4400" b="1" dirty="0">
              <a:solidFill>
                <a:schemeClr val="bg1"/>
              </a:solidFill>
              <a:latin typeface="+mj-lt"/>
            </a:endParaRPr>
          </a:p>
        </p:txBody>
      </p:sp>
      <p:sp>
        <p:nvSpPr>
          <p:cNvPr id="6" name="Shape 1"/>
          <p:cNvSpPr/>
          <p:nvPr/>
        </p:nvSpPr>
        <p:spPr>
          <a:xfrm>
            <a:off x="747712" y="1777247"/>
            <a:ext cx="421332" cy="364069"/>
          </a:xfrm>
          <a:prstGeom prst="roundRect">
            <a:avLst>
              <a:gd name="adj" fmla="val 6667"/>
            </a:avLst>
          </a:prstGeom>
          <a:solidFill>
            <a:srgbClr val="304755"/>
          </a:solidFill>
          <a:ln/>
        </p:spPr>
      </p:sp>
      <p:sp>
        <p:nvSpPr>
          <p:cNvPr id="7" name="TextBox 6"/>
          <p:cNvSpPr txBox="1"/>
          <p:nvPr/>
        </p:nvSpPr>
        <p:spPr>
          <a:xfrm rot="10800000" flipV="1">
            <a:off x="1400537" y="1667981"/>
            <a:ext cx="9109276" cy="5262979"/>
          </a:xfrm>
          <a:prstGeom prst="rect">
            <a:avLst/>
          </a:prstGeom>
          <a:noFill/>
        </p:spPr>
        <p:txBody>
          <a:bodyPr wrap="square" rtlCol="0">
            <a:spAutoFit/>
          </a:bodyPr>
          <a:lstStyle/>
          <a:p>
            <a:r>
              <a:rPr lang="en-US" dirty="0" smtClean="0"/>
              <a:t> </a:t>
            </a:r>
            <a:r>
              <a:rPr lang="en-US" sz="2400" b="1" dirty="0" smtClean="0">
                <a:solidFill>
                  <a:schemeClr val="bg1"/>
                </a:solidFill>
                <a:latin typeface="+mj-lt"/>
              </a:rPr>
              <a:t>visionary concept</a:t>
            </a:r>
          </a:p>
          <a:p>
            <a:r>
              <a:rPr lang="en-US" sz="2000" dirty="0" smtClean="0">
                <a:solidFill>
                  <a:schemeClr val="bg1"/>
                </a:solidFill>
                <a:latin typeface="+mj-lt"/>
              </a:rPr>
              <a:t>Connect Me offers a unique and comprehensive solution for connecting people to local services and products.</a:t>
            </a:r>
          </a:p>
          <a:p>
            <a:endParaRPr lang="en-US" sz="2000" dirty="0" smtClean="0">
              <a:solidFill>
                <a:schemeClr val="bg1"/>
              </a:solidFill>
              <a:latin typeface="+mj-lt"/>
            </a:endParaRPr>
          </a:p>
          <a:p>
            <a:r>
              <a:rPr lang="en-US" sz="2400" b="1" dirty="0" smtClean="0">
                <a:solidFill>
                  <a:schemeClr val="bg1"/>
                </a:solidFill>
                <a:latin typeface="+mj-lt"/>
              </a:rPr>
              <a:t>Growing market</a:t>
            </a:r>
          </a:p>
          <a:p>
            <a:r>
              <a:rPr lang="en-US" sz="2000" dirty="0" smtClean="0">
                <a:solidFill>
                  <a:schemeClr val="bg1"/>
                </a:solidFill>
                <a:latin typeface="+mj-lt"/>
              </a:rPr>
              <a:t>The demand for convenient and accessible local services is increasing rapidly</a:t>
            </a:r>
            <a:endParaRPr lang="en-US" sz="2000" dirty="0">
              <a:solidFill>
                <a:schemeClr val="bg1"/>
              </a:solidFill>
              <a:latin typeface="+mj-lt"/>
            </a:endParaRPr>
          </a:p>
          <a:p>
            <a:endParaRPr lang="en-US" sz="2000" dirty="0" smtClean="0">
              <a:solidFill>
                <a:schemeClr val="bg1"/>
              </a:solidFill>
              <a:latin typeface="+mj-lt"/>
            </a:endParaRPr>
          </a:p>
          <a:p>
            <a:r>
              <a:rPr lang="en-US" sz="2400" b="1" dirty="0" smtClean="0">
                <a:solidFill>
                  <a:schemeClr val="bg1"/>
                </a:solidFill>
                <a:latin typeface="+mj-lt"/>
              </a:rPr>
              <a:t>Strong business model</a:t>
            </a:r>
          </a:p>
          <a:p>
            <a:r>
              <a:rPr lang="en-US" sz="2000" dirty="0" smtClean="0">
                <a:solidFill>
                  <a:schemeClr val="bg1"/>
                </a:solidFill>
                <a:latin typeface="+mj-lt"/>
              </a:rPr>
              <a:t>Connect me generates revenue through commission fees on transactions and subscriptions for premium features</a:t>
            </a:r>
          </a:p>
          <a:p>
            <a:endParaRPr lang="en-US" sz="2000" dirty="0">
              <a:solidFill>
                <a:schemeClr val="bg1"/>
              </a:solidFill>
              <a:latin typeface="+mj-lt"/>
            </a:endParaRPr>
          </a:p>
          <a:p>
            <a:r>
              <a:rPr lang="en-US" sz="2400" b="1" dirty="0">
                <a:solidFill>
                  <a:schemeClr val="bg1"/>
                </a:solidFill>
                <a:latin typeface="+mj-lt"/>
              </a:rPr>
              <a:t>J</a:t>
            </a:r>
            <a:r>
              <a:rPr lang="en-US" sz="2400" b="1" dirty="0" smtClean="0">
                <a:solidFill>
                  <a:schemeClr val="bg1"/>
                </a:solidFill>
                <a:latin typeface="+mj-lt"/>
              </a:rPr>
              <a:t>oin us</a:t>
            </a:r>
          </a:p>
          <a:p>
            <a:r>
              <a:rPr lang="en-US" sz="2000" dirty="0" smtClean="0">
                <a:solidFill>
                  <a:schemeClr val="bg1"/>
                </a:solidFill>
                <a:latin typeface="+mj-lt"/>
              </a:rPr>
              <a:t>Invest in Connect Me and be a part of the future of the local connectivity</a:t>
            </a:r>
            <a:endParaRPr lang="en-US" sz="2000" dirty="0">
              <a:solidFill>
                <a:schemeClr val="bg1"/>
              </a:solidFill>
              <a:latin typeface="+mj-lt"/>
            </a:endParaRPr>
          </a:p>
          <a:p>
            <a:endParaRPr lang="en-US" sz="2000" dirty="0" smtClean="0">
              <a:solidFill>
                <a:schemeClr val="bg1"/>
              </a:solidFill>
            </a:endParaRPr>
          </a:p>
          <a:p>
            <a:endParaRPr lang="en-US" sz="2000" dirty="0" smtClean="0">
              <a:solidFill>
                <a:schemeClr val="bg1"/>
              </a:solidFill>
            </a:endParaRPr>
          </a:p>
          <a:p>
            <a:endParaRPr lang="en-US" sz="2000" dirty="0">
              <a:solidFill>
                <a:schemeClr val="bg1"/>
              </a:solidFill>
            </a:endParaRPr>
          </a:p>
        </p:txBody>
      </p:sp>
      <p:sp>
        <p:nvSpPr>
          <p:cNvPr id="8" name="Shape 1"/>
          <p:cNvSpPr/>
          <p:nvPr/>
        </p:nvSpPr>
        <p:spPr>
          <a:xfrm>
            <a:off x="747712" y="2956646"/>
            <a:ext cx="421332" cy="411587"/>
          </a:xfrm>
          <a:prstGeom prst="roundRect">
            <a:avLst>
              <a:gd name="adj" fmla="val 6667"/>
            </a:avLst>
          </a:prstGeom>
          <a:solidFill>
            <a:srgbClr val="304755"/>
          </a:solidFill>
          <a:ln/>
        </p:spPr>
      </p:sp>
      <p:sp>
        <p:nvSpPr>
          <p:cNvPr id="9" name="Shape 1"/>
          <p:cNvSpPr/>
          <p:nvPr/>
        </p:nvSpPr>
        <p:spPr>
          <a:xfrm>
            <a:off x="728625" y="4059143"/>
            <a:ext cx="445031" cy="420260"/>
          </a:xfrm>
          <a:prstGeom prst="roundRect">
            <a:avLst>
              <a:gd name="adj" fmla="val 6667"/>
            </a:avLst>
          </a:prstGeom>
          <a:solidFill>
            <a:srgbClr val="304755"/>
          </a:solidFill>
          <a:ln/>
        </p:spPr>
      </p:sp>
      <p:sp>
        <p:nvSpPr>
          <p:cNvPr id="10" name="Shape 1"/>
          <p:cNvSpPr/>
          <p:nvPr/>
        </p:nvSpPr>
        <p:spPr>
          <a:xfrm>
            <a:off x="747712" y="5286061"/>
            <a:ext cx="451414" cy="368489"/>
          </a:xfrm>
          <a:prstGeom prst="roundRect">
            <a:avLst>
              <a:gd name="adj" fmla="val 6667"/>
            </a:avLst>
          </a:prstGeom>
          <a:solidFill>
            <a:srgbClr val="304755"/>
          </a:solidFill>
          <a:ln/>
        </p:spPr>
      </p:sp>
    </p:spTree>
    <p:extLst>
      <p:ext uri="{BB962C8B-B14F-4D97-AF65-F5344CB8AC3E}">
        <p14:creationId xmlns:p14="http://schemas.microsoft.com/office/powerpoint/2010/main" val="95953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48485" y="3062826"/>
            <a:ext cx="5291705" cy="1323439"/>
          </a:xfrm>
          <a:prstGeom prst="rect">
            <a:avLst/>
          </a:prstGeom>
          <a:noFill/>
        </p:spPr>
        <p:txBody>
          <a:bodyPr wrap="none" lIns="91440" tIns="45720" rIns="91440" bIns="45720">
            <a:spAutoFit/>
          </a:bodyPr>
          <a:lstStyle/>
          <a:p>
            <a:pPr algn="ctr"/>
            <a:r>
              <a:rPr lang="en-US" sz="8000" b="1" dirty="0" smtClean="0">
                <a:ln w="0"/>
                <a:solidFill>
                  <a:schemeClr val="accent1">
                    <a:lumMod val="40000"/>
                    <a:lumOff val="60000"/>
                  </a:schemeClr>
                </a:solidFill>
                <a:effectLst>
                  <a:reflection blurRad="6350" stA="53000" endA="300" endPos="35500" dir="5400000" sy="-90000" algn="bl" rotWithShape="0"/>
                </a:effectLst>
              </a:rPr>
              <a:t>THANK YOU</a:t>
            </a:r>
            <a:endParaRPr lang="en-US" sz="8000" b="1" cap="none" spc="0" dirty="0">
              <a:ln w="0"/>
              <a:solidFill>
                <a:schemeClr val="accent1">
                  <a:lumMod val="40000"/>
                  <a:lumOff val="60000"/>
                </a:schemeClr>
              </a:solidFill>
              <a:effectLst>
                <a:reflection blurRad="6350" stA="53000" endA="300" endPos="35500" dir="5400000" sy="-90000" algn="bl" rotWithShape="0"/>
              </a:effectLst>
            </a:endParaRPr>
          </a:p>
        </p:txBody>
      </p:sp>
    </p:spTree>
    <p:extLst>
      <p:ext uri="{BB962C8B-B14F-4D97-AF65-F5344CB8AC3E}">
        <p14:creationId xmlns:p14="http://schemas.microsoft.com/office/powerpoint/2010/main" val="1347193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794</TotalTime>
  <Words>1193</Words>
  <Application>Microsoft Office PowerPoint</Application>
  <PresentationFormat>Custom</PresentationFormat>
  <Paragraphs>221</Paragraphs>
  <Slides>24</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Cabin</vt:lpstr>
      <vt:lpstr>Cabin Medium</vt:lpstr>
      <vt:lpstr>Calibri</vt:lpstr>
      <vt:lpstr>Calibri Light</vt:lpstr>
      <vt:lpstr>Ebrima</vt:lpstr>
      <vt:lpstr>Epilogue</vt:lpstr>
      <vt:lpstr>Fraunces Medium</vt:lpstr>
      <vt:lpstr>Unbounded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Rihana Ameer</dc:creator>
  <cp:lastModifiedBy>Rihana Ameer</cp:lastModifiedBy>
  <cp:revision>40</cp:revision>
  <dcterms:modified xsi:type="dcterms:W3CDTF">2024-10-07T06:42:08Z</dcterms:modified>
</cp:coreProperties>
</file>